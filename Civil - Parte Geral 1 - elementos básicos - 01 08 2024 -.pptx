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99" r:id="rId3"/>
    <p:sldId id="258" r:id="rId4"/>
    <p:sldId id="259" r:id="rId5"/>
    <p:sldId id="280" r:id="rId6"/>
    <p:sldId id="260" r:id="rId7"/>
    <p:sldId id="268" r:id="rId8"/>
    <p:sldId id="269" r:id="rId9"/>
    <p:sldId id="270" r:id="rId10"/>
    <p:sldId id="271" r:id="rId11"/>
    <p:sldId id="272" r:id="rId12"/>
    <p:sldId id="281" r:id="rId13"/>
    <p:sldId id="284" r:id="rId14"/>
    <p:sldId id="285" r:id="rId15"/>
    <p:sldId id="287" r:id="rId16"/>
    <p:sldId id="286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73" r:id="rId29"/>
  </p:sldIdLst>
  <p:sldSz cx="9144000" cy="6858000" type="screen4x3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C27A6-E74B-4A87-83F2-E24DF169FFE0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247250"/>
      </p:ext>
    </p:extLst>
  </p:cSld>
  <p:clrMapOvr>
    <a:masterClrMapping/>
  </p:clrMapOvr>
  <p:transition spd="slow">
    <p:pull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D09550-FD4A-4B78-A1F8-2C0B48DAA187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1920"/>
      </p:ext>
    </p:extLst>
  </p:cSld>
  <p:clrMapOvr>
    <a:masterClrMapping/>
  </p:clrMapOvr>
  <p:transition spd="slow">
    <p:pull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5FB10-6CFF-4CA9-A6E9-EBB1FA0D9534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073199"/>
      </p:ext>
    </p:extLst>
  </p:cSld>
  <p:clrMapOvr>
    <a:masterClrMapping/>
  </p:clrMapOvr>
  <p:transition spd="slow">
    <p:pull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1772C-7A05-428A-A0BA-11E8FB00781C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673035"/>
      </p:ext>
    </p:extLst>
  </p:cSld>
  <p:clrMapOvr>
    <a:masterClrMapping/>
  </p:clrMapOvr>
  <p:transition spd="slow">
    <p:pull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C2DCF1-6C54-4E4A-8E05-2B800AB481AC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930020"/>
      </p:ext>
    </p:extLst>
  </p:cSld>
  <p:clrMapOvr>
    <a:masterClrMapping/>
  </p:clrMapOvr>
  <p:transition spd="slow">
    <p:pull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443A4-8226-46DA-A202-A8CEABDEF9DD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342587"/>
      </p:ext>
    </p:extLst>
  </p:cSld>
  <p:clrMapOvr>
    <a:masterClrMapping/>
  </p:clrMapOvr>
  <p:transition spd="slow">
    <p:pull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22FD08-372F-412D-84CC-A44BB50604C5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003458"/>
      </p:ext>
    </p:extLst>
  </p:cSld>
  <p:clrMapOvr>
    <a:masterClrMapping/>
  </p:clrMapOvr>
  <p:transition spd="slow">
    <p:pull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DFA9D-D4AF-45FB-A0D0-F902BC396D7F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042494"/>
      </p:ext>
    </p:extLst>
  </p:cSld>
  <p:clrMapOvr>
    <a:masterClrMapping/>
  </p:clrMapOvr>
  <p:transition spd="slow">
    <p:pull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BA5FE9-34A6-431C-8F6F-834057129A9F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593259"/>
      </p:ext>
    </p:extLst>
  </p:cSld>
  <p:clrMapOvr>
    <a:masterClrMapping/>
  </p:clrMapOvr>
  <p:transition spd="slow">
    <p:pull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98711-3A20-4460-B201-85DDD1CA3DE0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694998"/>
      </p:ext>
    </p:extLst>
  </p:cSld>
  <p:clrMapOvr>
    <a:masterClrMapping/>
  </p:clrMapOvr>
  <p:transition spd="slow"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s-ES_tradnl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103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_tradnl" sz="2400">
                  <a:solidFill>
                    <a:srgbClr val="0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s-ES_tradnl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A8A2CC1-EFAF-4207-B8C2-5D01A13C30C7}" type="slidenum">
              <a:rPr lang="pt-BR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_tradnl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 spd="slow">
    <p:pull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egislacao.planalto.gov.br/legisla/legislacao.nsf/Viw_Identificacao/DEL%204.657-1942?OpenDocument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legislacao.planalto.gov.br/legisla/legislacao.nsf/viwTodos/509f2321d97cd2d203256b280052245a?OpenDocument&amp;Highlight=1,constitui%C3%A7%C3%A3o&amp;AutoFramed" TargetMode="Externa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35062"/>
          </a:xfrm>
        </p:spPr>
        <p:txBody>
          <a:bodyPr/>
          <a:lstStyle/>
          <a:p>
            <a:pPr algn="ctr" eaLnBrk="1" hangingPunct="1"/>
            <a:r>
              <a:rPr lang="pt-BR" sz="2800" b="1" u="sng" dirty="0" smtClean="0"/>
              <a:t>DIREITO CIVIL – PESSOAS E BENS</a:t>
            </a:r>
            <a:br>
              <a:rPr lang="pt-BR" sz="2800" b="1" u="sng" dirty="0" smtClean="0"/>
            </a:br>
            <a:r>
              <a:rPr lang="pt-BR" sz="2800" b="1" u="sng" dirty="0" smtClean="0"/>
              <a:t>Parte geral 1</a:t>
            </a:r>
            <a:endParaRPr lang="pt-BR" sz="2800" b="1" u="sng" dirty="0"/>
          </a:p>
        </p:txBody>
      </p:sp>
      <p:sp>
        <p:nvSpPr>
          <p:cNvPr id="819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/>
            <a:endParaRPr lang="pt-BR" sz="2400" b="1" u="sng" dirty="0"/>
          </a:p>
          <a:p>
            <a:pPr algn="ctr" eaLnBrk="1" hangingPunct="1"/>
            <a:endParaRPr lang="pt-BR" sz="2400" b="1" dirty="0" smtClean="0"/>
          </a:p>
          <a:p>
            <a:pPr algn="ctr" eaLnBrk="1" hangingPunct="1"/>
            <a:endParaRPr lang="pt-BR" sz="2400" b="1" dirty="0"/>
          </a:p>
          <a:p>
            <a:pPr algn="ctr" eaLnBrk="1" hangingPunct="1"/>
            <a:endParaRPr lang="pt-BR" sz="2400" b="1" dirty="0" smtClean="0"/>
          </a:p>
          <a:p>
            <a:pPr algn="ctr" eaLnBrk="1" hangingPunct="1"/>
            <a:r>
              <a:rPr lang="pt-BR" sz="2400" b="1" dirty="0" smtClean="0"/>
              <a:t>Prof. Dr. Luiz Bráulio Farias Benítez</a:t>
            </a:r>
            <a:endParaRPr lang="pt-BR" sz="2400" dirty="0"/>
          </a:p>
          <a:p>
            <a:pPr algn="ctr" eaLnBrk="1" hangingPunct="1"/>
            <a:endParaRPr lang="pt-BR" sz="1800" dirty="0"/>
          </a:p>
          <a:p>
            <a:pPr algn="ctr" eaLnBrk="1" hangingPunct="1"/>
            <a:endParaRPr lang="pt-BR" sz="1800" dirty="0"/>
          </a:p>
          <a:p>
            <a:pPr algn="ctr" eaLnBrk="1" hangingPunct="1"/>
            <a:endParaRPr lang="pt-BR" sz="1800" dirty="0"/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</a:pPr>
            <a:endParaRPr lang="pt-BR" sz="1800" dirty="0"/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</a:pPr>
            <a:endParaRPr lang="pt-BR" sz="1800" dirty="0"/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</a:pPr>
            <a:endParaRPr lang="pt-BR" sz="2400" dirty="0"/>
          </a:p>
          <a:p>
            <a:pPr eaLnBrk="1" hangingPunct="1">
              <a:buFont typeface="Wingdings" pitchFamily="2" charset="2"/>
              <a:buNone/>
            </a:pPr>
            <a:endParaRPr lang="pt-BR" sz="2400" dirty="0"/>
          </a:p>
          <a:p>
            <a:pPr eaLnBrk="1" hangingPunct="1">
              <a:buFont typeface="Wingdings" pitchFamily="2" charset="2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010863"/>
      </p:ext>
    </p:extLst>
  </p:cSld>
  <p:clrMapOvr>
    <a:masterClrMapping/>
  </p:clrMapOvr>
  <p:transition spd="slow">
    <p:pull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35062"/>
          </a:xfrm>
        </p:spPr>
        <p:txBody>
          <a:bodyPr/>
          <a:lstStyle/>
          <a:p>
            <a:pPr algn="ctr" eaLnBrk="1" hangingPunct="1"/>
            <a:r>
              <a:rPr lang="pt-BR" sz="2800" b="1" u="sng" dirty="0"/>
              <a:t>PRESSUPOSTOS EPISTEMOLÓGICOS PARA </a:t>
            </a:r>
            <a:r>
              <a:rPr lang="pt-BR" sz="2800" b="1" u="sng" dirty="0" smtClean="0"/>
              <a:t>A INTERPRETAÇÃO, INTEGRAÇÃO E </a:t>
            </a:r>
            <a:r>
              <a:rPr lang="pt-BR" sz="2800" b="1" u="sng" dirty="0"/>
              <a:t>APLICAÇÃO DO </a:t>
            </a:r>
            <a:r>
              <a:rPr lang="pt-BR" sz="2800" b="1" u="sng" dirty="0" smtClean="0"/>
              <a:t>DIREITO</a:t>
            </a:r>
            <a:endParaRPr lang="pt-BR" sz="2800" b="1" u="sng" dirty="0"/>
          </a:p>
        </p:txBody>
      </p:sp>
      <p:sp>
        <p:nvSpPr>
          <p:cNvPr id="819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/>
            <a:endParaRPr lang="pt-BR" sz="2400" b="1" u="sng" dirty="0"/>
          </a:p>
          <a:p>
            <a:pPr algn="ctr" eaLnBrk="1" hangingPunct="1"/>
            <a:r>
              <a:rPr lang="pt-BR" sz="2400" b="1" dirty="0"/>
              <a:t>Aplicação</a:t>
            </a:r>
            <a:r>
              <a:rPr lang="pt-BR" sz="2400" dirty="0"/>
              <a:t> do Direito </a:t>
            </a:r>
            <a:r>
              <a:rPr lang="pt-BR" sz="2400" dirty="0" smtClean="0"/>
              <a:t>e a </a:t>
            </a:r>
            <a:r>
              <a:rPr lang="pt-BR" sz="2400" b="1" dirty="0"/>
              <a:t>integração</a:t>
            </a:r>
            <a:r>
              <a:rPr lang="pt-BR" sz="2400" dirty="0"/>
              <a:t> das lacunas no ordenamento jurídico:</a:t>
            </a:r>
          </a:p>
          <a:p>
            <a:pPr algn="ctr" eaLnBrk="1" hangingPunct="1"/>
            <a:endParaRPr lang="pt-BR" sz="1800" dirty="0"/>
          </a:p>
          <a:p>
            <a:pPr algn="ctr" eaLnBrk="1" hangingPunct="1"/>
            <a:endParaRPr lang="pt-BR" sz="1800" dirty="0"/>
          </a:p>
          <a:p>
            <a:pPr algn="ctr" eaLnBrk="1" hangingPunct="1"/>
            <a:endParaRPr lang="pt-BR" sz="1800" dirty="0"/>
          </a:p>
          <a:p>
            <a:pPr algn="ctr" eaLnBrk="1" hangingPunct="1"/>
            <a:r>
              <a:rPr lang="pt-BR" sz="1800" dirty="0"/>
              <a:t>Interpretar os fatos e as normas jurídicas aplicáveis é a primeira tarefa de todo operador jurídico.</a:t>
            </a:r>
            <a:endParaRPr lang="pt-BR" sz="2400" u="sng" dirty="0"/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</a:pPr>
            <a:endParaRPr lang="pt-BR" sz="1800" dirty="0"/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</a:pPr>
            <a:endParaRPr lang="pt-BR" sz="1800" dirty="0"/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</a:pPr>
            <a:endParaRPr lang="pt-BR" sz="2400" dirty="0"/>
          </a:p>
          <a:p>
            <a:pPr eaLnBrk="1" hangingPunct="1">
              <a:buFont typeface="Wingdings" pitchFamily="2" charset="2"/>
              <a:buNone/>
            </a:pPr>
            <a:endParaRPr lang="pt-BR" sz="2400" dirty="0"/>
          </a:p>
          <a:p>
            <a:pPr eaLnBrk="1" hangingPunct="1">
              <a:buFont typeface="Wingdings" pitchFamily="2" charset="2"/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6630997"/>
      </p:ext>
    </p:extLst>
  </p:cSld>
  <p:clrMapOvr>
    <a:masterClrMapping/>
  </p:clrMapOvr>
  <p:transition spd="slow">
    <p:pull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800" dirty="0" smtClean="0">
                <a:solidFill>
                  <a:srgbClr val="C00000"/>
                </a:solidFill>
              </a:rPr>
              <a:t>Demonstrabilidade da existência dos Fatos e a luta pela efetividade dos direitos:</a:t>
            </a:r>
            <a:br>
              <a:rPr lang="pt-BR" sz="2800" dirty="0" smtClean="0">
                <a:solidFill>
                  <a:srgbClr val="C00000"/>
                </a:solidFill>
              </a:rPr>
            </a:br>
            <a:r>
              <a:rPr lang="pt-BR" sz="2800" dirty="0" smtClean="0">
                <a:solidFill>
                  <a:srgbClr val="C00000"/>
                </a:solidFill>
              </a:rPr>
              <a:t>A argumentação Jurídica.</a:t>
            </a:r>
            <a:endParaRPr lang="pt-BR" sz="2800" dirty="0">
              <a:solidFill>
                <a:srgbClr val="C00000"/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pt-BR" sz="1800" dirty="0">
                <a:solidFill>
                  <a:srgbClr val="000000"/>
                </a:solidFill>
              </a:rPr>
              <a:t>A teoria da argumentação jurídica busca </a:t>
            </a:r>
            <a:r>
              <a:rPr lang="pt-BR" sz="1800" b="1" dirty="0">
                <a:solidFill>
                  <a:srgbClr val="000000"/>
                </a:solidFill>
              </a:rPr>
              <a:t>revelar a compreensão das práticas judiciais</a:t>
            </a:r>
            <a:r>
              <a:rPr lang="pt-BR" sz="1800" dirty="0">
                <a:solidFill>
                  <a:srgbClr val="000000"/>
                </a:solidFill>
              </a:rPr>
              <a:t>, do </a:t>
            </a:r>
            <a:r>
              <a:rPr lang="pt-BR" sz="1800" b="1" dirty="0">
                <a:solidFill>
                  <a:srgbClr val="000000"/>
                </a:solidFill>
              </a:rPr>
              <a:t>processo decisório dos conflitos</a:t>
            </a:r>
            <a:r>
              <a:rPr lang="pt-BR" sz="1800" dirty="0">
                <a:solidFill>
                  <a:srgbClr val="000000"/>
                </a:solidFill>
              </a:rPr>
              <a:t>, da </a:t>
            </a:r>
            <a:r>
              <a:rPr lang="pt-BR" sz="1800" b="1" dirty="0">
                <a:solidFill>
                  <a:srgbClr val="000000"/>
                </a:solidFill>
              </a:rPr>
              <a:t>fundamentação das teorias dogmáticas</a:t>
            </a:r>
            <a:r>
              <a:rPr lang="pt-BR" sz="1800" dirty="0">
                <a:solidFill>
                  <a:srgbClr val="000000"/>
                </a:solidFill>
              </a:rPr>
              <a:t> e do </a:t>
            </a:r>
            <a:r>
              <a:rPr lang="pt-BR" sz="1800" b="1" dirty="0">
                <a:solidFill>
                  <a:srgbClr val="000000"/>
                </a:solidFill>
              </a:rPr>
              <a:t>papel do operador jurídico</a:t>
            </a:r>
            <a:r>
              <a:rPr lang="pt-BR" sz="1800" dirty="0">
                <a:solidFill>
                  <a:srgbClr val="000000"/>
                </a:solidFill>
              </a:rPr>
              <a:t> nestes procedimentos.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</a:pPr>
            <a:endParaRPr lang="pt-BR" sz="1800" dirty="0"/>
          </a:p>
          <a:p>
            <a:pPr algn="just" eaLnBrk="1" hangingPunct="1">
              <a:buFont typeface="Wingdings" pitchFamily="2" charset="2"/>
              <a:buNone/>
            </a:pPr>
            <a:r>
              <a:rPr lang="pt-BR" sz="1800" dirty="0"/>
              <a:t>A </a:t>
            </a:r>
            <a:r>
              <a:rPr lang="pt-BR" sz="1800" b="1" dirty="0"/>
              <a:t>racionalidade de uma decisão judicial</a:t>
            </a:r>
            <a:r>
              <a:rPr lang="pt-BR" sz="1800" dirty="0"/>
              <a:t> pode ser avaliada a partir das </a:t>
            </a:r>
            <a:r>
              <a:rPr lang="pt-BR" sz="1800" b="1" dirty="0"/>
              <a:t>razões explicitadas pelo juiz</a:t>
            </a:r>
            <a:r>
              <a:rPr lang="pt-BR" sz="1800" dirty="0"/>
              <a:t>. </a:t>
            </a:r>
          </a:p>
          <a:p>
            <a:pPr algn="just" eaLnBrk="1" hangingPunct="1">
              <a:buFont typeface="Wingdings" pitchFamily="2" charset="2"/>
              <a:buNone/>
            </a:pPr>
            <a:endParaRPr lang="pt-BR" sz="1800" dirty="0"/>
          </a:p>
          <a:p>
            <a:pPr algn="just" eaLnBrk="1" hangingPunct="1">
              <a:buFont typeface="Wingdings" pitchFamily="2" charset="2"/>
              <a:buNone/>
            </a:pPr>
            <a:r>
              <a:rPr lang="pt-BR" sz="1800" dirty="0"/>
              <a:t>A partir disso é que se pode estabelecer uma </a:t>
            </a:r>
            <a:r>
              <a:rPr lang="pt-BR" sz="1800" b="1" dirty="0"/>
              <a:t>comparação</a:t>
            </a:r>
            <a:r>
              <a:rPr lang="pt-BR" sz="1800" dirty="0"/>
              <a:t> entre a </a:t>
            </a:r>
            <a:r>
              <a:rPr lang="pt-BR" sz="1800" b="1" dirty="0"/>
              <a:t>racionalidade</a:t>
            </a:r>
            <a:r>
              <a:rPr lang="pt-BR" sz="1800" dirty="0"/>
              <a:t> e/ou </a:t>
            </a:r>
            <a:r>
              <a:rPr lang="pt-BR" sz="1800" b="1" dirty="0"/>
              <a:t>arbitrariedade</a:t>
            </a:r>
            <a:r>
              <a:rPr lang="pt-BR" sz="1800" dirty="0"/>
              <a:t> da </a:t>
            </a:r>
            <a:r>
              <a:rPr lang="pt-BR" sz="1800" b="1" dirty="0"/>
              <a:t>decisão interpretativa do direito</a:t>
            </a:r>
            <a:r>
              <a:rPr lang="pt-BR" sz="1800" dirty="0"/>
              <a:t> sentenciado.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6192503"/>
      </p:ext>
    </p:extLst>
  </p:cSld>
  <p:clrMapOvr>
    <a:masterClrMapping/>
  </p:clrMapOvr>
  <p:transition spd="slow">
    <p:pull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800" b="1" dirty="0">
                <a:solidFill>
                  <a:srgbClr val="C00000"/>
                </a:solidFill>
              </a:rPr>
              <a:t>Categorias </a:t>
            </a:r>
            <a:r>
              <a:rPr lang="pt-BR" sz="2800" b="1" dirty="0" smtClean="0">
                <a:solidFill>
                  <a:srgbClr val="C00000"/>
                </a:solidFill>
              </a:rPr>
              <a:t>necessárias para a interpretação e aplicação do direito</a:t>
            </a:r>
            <a:endParaRPr lang="pt-BR" sz="2800" b="1" dirty="0">
              <a:solidFill>
                <a:srgbClr val="C00000"/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pt-BR" sz="2400" dirty="0"/>
          </a:p>
          <a:p>
            <a:pPr eaLnBrk="1" hangingPunct="1"/>
            <a:r>
              <a:rPr lang="pt-BR" sz="2400" dirty="0"/>
              <a:t>Norma jurídica (regras, princípios, classificação</a:t>
            </a:r>
            <a:r>
              <a:rPr lang="pt-BR" sz="2400" dirty="0" smtClean="0"/>
              <a:t>, </a:t>
            </a:r>
            <a:r>
              <a:rPr lang="pt-BR" sz="2400" dirty="0" err="1" smtClean="0"/>
              <a:t>etc</a:t>
            </a:r>
            <a:r>
              <a:rPr lang="pt-BR" sz="2400" dirty="0"/>
              <a:t>).</a:t>
            </a:r>
          </a:p>
          <a:p>
            <a:pPr eaLnBrk="1" hangingPunct="1"/>
            <a:r>
              <a:rPr lang="pt-BR" sz="2400" dirty="0" smtClean="0"/>
              <a:t>Relação </a:t>
            </a:r>
            <a:r>
              <a:rPr lang="pt-BR" sz="2400" dirty="0"/>
              <a:t>jurídica (Direito Real, Direito Obrigacional)</a:t>
            </a:r>
          </a:p>
          <a:p>
            <a:pPr eaLnBrk="1" hangingPunct="1"/>
            <a:r>
              <a:rPr lang="pt-BR" sz="2400" dirty="0" smtClean="0"/>
              <a:t>Fontes </a:t>
            </a:r>
            <a:r>
              <a:rPr lang="pt-BR" sz="2400" dirty="0"/>
              <a:t>do </a:t>
            </a:r>
            <a:r>
              <a:rPr lang="pt-BR" sz="2400" dirty="0" smtClean="0"/>
              <a:t>direito</a:t>
            </a:r>
            <a:endParaRPr lang="pt-BR" sz="2400" dirty="0"/>
          </a:p>
          <a:p>
            <a:pPr eaLnBrk="1" hangingPunct="1"/>
            <a:r>
              <a:rPr lang="pt-BR" sz="2400" dirty="0"/>
              <a:t>Hermenêutica e técnicas de interpretação dos fatos e do direito </a:t>
            </a:r>
            <a:r>
              <a:rPr lang="pt-BR" sz="1800" dirty="0"/>
              <a:t>(</a:t>
            </a:r>
            <a:r>
              <a:rPr lang="pt-BR" sz="1400" dirty="0"/>
              <a:t>Art. 5º da LICC e Art. 93 IX da CFRB - requisito constitucional de fundamentação das decisões judiciais sob pena de nulidade </a:t>
            </a:r>
            <a:r>
              <a:rPr lang="pt-BR" sz="1400" dirty="0" err="1"/>
              <a:t>arts</a:t>
            </a:r>
            <a:r>
              <a:rPr lang="pt-BR" sz="1400" dirty="0"/>
              <a:t>. 125 e ss. Do CPC</a:t>
            </a:r>
            <a:r>
              <a:rPr lang="pt-BR" sz="1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60324921"/>
      </p:ext>
    </p:extLst>
  </p:cSld>
  <p:clrMapOvr>
    <a:masterClrMapping/>
  </p:clrMapOvr>
  <p:transition spd="slow">
    <p:pull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solidFill>
                  <a:srgbClr val="C00000"/>
                </a:solidFill>
              </a:rPr>
              <a:t>Categorias operacionais: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sz="2400" dirty="0" smtClean="0"/>
              <a:t>Direito </a:t>
            </a:r>
            <a:r>
              <a:rPr lang="pt-BR" sz="2400" dirty="0"/>
              <a:t>positivo</a:t>
            </a:r>
            <a:endParaRPr lang="pt-BR" sz="2400" dirty="0" smtClean="0"/>
          </a:p>
          <a:p>
            <a:pPr eaLnBrk="1" hangingPunct="1"/>
            <a:r>
              <a:rPr lang="pt-BR" sz="2400" dirty="0" smtClean="0"/>
              <a:t>Direito objetivo</a:t>
            </a:r>
          </a:p>
          <a:p>
            <a:pPr eaLnBrk="1" hangingPunct="1"/>
            <a:r>
              <a:rPr lang="pt-BR" sz="2400" dirty="0" smtClean="0"/>
              <a:t>Direito subjetivo</a:t>
            </a:r>
          </a:p>
          <a:p>
            <a:pPr eaLnBrk="1" hangingPunct="1"/>
            <a:r>
              <a:rPr lang="pt-BR" sz="2400" dirty="0" smtClean="0"/>
              <a:t>Direito </a:t>
            </a:r>
            <a:r>
              <a:rPr lang="pt-BR" sz="2400" dirty="0" err="1" smtClean="0"/>
              <a:t>potestativo</a:t>
            </a:r>
            <a:endParaRPr lang="pt-BR" sz="2400" dirty="0" smtClean="0"/>
          </a:p>
          <a:p>
            <a:pPr eaLnBrk="1" hangingPunct="1"/>
            <a:r>
              <a:rPr lang="pt-BR" sz="2400" dirty="0" smtClean="0"/>
              <a:t>Interpretação do direito</a:t>
            </a:r>
          </a:p>
          <a:p>
            <a:pPr eaLnBrk="1" hangingPunct="1"/>
            <a:r>
              <a:rPr lang="pt-BR" sz="2400" dirty="0" smtClean="0"/>
              <a:t>Aplicação do direito</a:t>
            </a:r>
            <a:endParaRPr lang="pt-BR" sz="2400" dirty="0"/>
          </a:p>
          <a:p>
            <a:pPr eaLnBrk="1" hangingPunct="1"/>
            <a:r>
              <a:rPr lang="pt-BR" sz="2400" dirty="0" smtClean="0"/>
              <a:t>Hermenêutica </a:t>
            </a:r>
            <a:r>
              <a:rPr lang="pt-BR" sz="2400" dirty="0"/>
              <a:t>e técnicas de interpretação dos fatos e do direito </a:t>
            </a:r>
            <a:r>
              <a:rPr lang="pt-BR" sz="1800" dirty="0"/>
              <a:t>(</a:t>
            </a:r>
            <a:r>
              <a:rPr lang="pt-BR" sz="1400" dirty="0"/>
              <a:t>Art. 5º da LICC e Art. 93 IX da CFRB - requisito constitucional de fundamentação das decisões judiciais sob pena de nulidade </a:t>
            </a:r>
            <a:r>
              <a:rPr lang="pt-BR" sz="1400" dirty="0" err="1"/>
              <a:t>arts</a:t>
            </a:r>
            <a:r>
              <a:rPr lang="pt-BR" sz="1400" dirty="0"/>
              <a:t>. 125 e ss. Do CPC</a:t>
            </a:r>
            <a:r>
              <a:rPr lang="pt-BR" sz="1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43335214"/>
      </p:ext>
    </p:extLst>
  </p:cSld>
  <p:clrMapOvr>
    <a:masterClrMapping/>
  </p:clrMapOvr>
  <p:transition spd="slow">
    <p:pull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2500" b="1">
                <a:hlinkClick r:id="rId2"/>
              </a:rPr>
              <a:t>DECRETO-LEI Nº 4.657, DE 4 DE SETEMBRO DE 1942.</a:t>
            </a:r>
            <a:r>
              <a:rPr lang="pt-BR" sz="2500" b="1"/>
              <a:t> </a:t>
            </a:r>
            <a:r>
              <a:rPr lang="pt-BR" sz="2500"/>
              <a:t>Lei de Introdução ao Código Civil Brasileiro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pt-BR" sz="1600" dirty="0"/>
          </a:p>
          <a:p>
            <a:pPr eaLnBrk="1" hangingPunct="1"/>
            <a:endParaRPr lang="pt-BR" sz="1600" dirty="0"/>
          </a:p>
          <a:p>
            <a:pPr eaLnBrk="1" hangingPunct="1"/>
            <a:endParaRPr lang="pt-BR" sz="1600" dirty="0"/>
          </a:p>
          <a:p>
            <a:pPr eaLnBrk="1" hangingPunct="1"/>
            <a:endParaRPr lang="pt-BR" sz="1600" dirty="0"/>
          </a:p>
          <a:p>
            <a:pPr eaLnBrk="1" hangingPunct="1"/>
            <a:r>
              <a:rPr lang="pt-BR" sz="2400" dirty="0"/>
              <a:t>Art. 5</a:t>
            </a:r>
            <a:r>
              <a:rPr lang="pt-BR" sz="2400" u="sng" dirty="0"/>
              <a:t>o</a:t>
            </a:r>
            <a:r>
              <a:rPr lang="pt-BR" sz="2400" dirty="0"/>
              <a:t>  Na </a:t>
            </a:r>
            <a:r>
              <a:rPr lang="pt-BR" sz="2400" b="1" dirty="0"/>
              <a:t>aplicação da lei, o juiz atenderá</a:t>
            </a:r>
            <a:r>
              <a:rPr lang="pt-BR" sz="2400" dirty="0"/>
              <a:t> aos </a:t>
            </a:r>
            <a:r>
              <a:rPr lang="pt-BR" sz="2400" b="1" u="sng" dirty="0"/>
              <a:t>fins sociais</a:t>
            </a:r>
            <a:r>
              <a:rPr lang="pt-BR" sz="2400" dirty="0"/>
              <a:t> a que ela se dirige e às exigências do </a:t>
            </a:r>
            <a:r>
              <a:rPr lang="pt-BR" sz="2400" b="1" u="sng" dirty="0"/>
              <a:t>bem comum</a:t>
            </a:r>
            <a:r>
              <a:rPr lang="pt-BR" sz="2400" dirty="0"/>
              <a:t>.</a:t>
            </a:r>
          </a:p>
          <a:p>
            <a:pPr eaLnBrk="1" hangingPunct="1"/>
            <a:endParaRPr lang="pt-BR" sz="2400" dirty="0"/>
          </a:p>
          <a:p>
            <a:pPr eaLnBrk="1" hangingPunct="1"/>
            <a:r>
              <a:rPr lang="pt-BR" sz="2400" dirty="0"/>
              <a:t>(Pesquisar o significado destas palavras: significado, aplicar o direito, técnica teleológica de interpretação, fins </a:t>
            </a:r>
            <a:r>
              <a:rPr lang="pt-BR" sz="2400" dirty="0" smtClean="0"/>
              <a:t>sociais, </a:t>
            </a:r>
            <a:r>
              <a:rPr lang="pt-BR" sz="2400" dirty="0"/>
              <a:t>bem </a:t>
            </a:r>
            <a:r>
              <a:rPr lang="pt-BR" sz="2400" dirty="0" smtClean="0"/>
              <a:t>comum – ver art. 3º da CF/88, adiante) </a:t>
            </a:r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15089130"/>
      </p:ext>
    </p:extLst>
  </p:cSld>
  <p:clrMapOvr>
    <a:masterClrMapping/>
  </p:clrMapOvr>
  <p:transition spd="slow">
    <p:pull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 sz="3200" b="1" u="sng" dirty="0">
                <a:solidFill>
                  <a:srgbClr val="C00000"/>
                </a:solidFill>
              </a:rPr>
              <a:t>Técnicas clássicas de interpretação do direito</a:t>
            </a:r>
          </a:p>
        </p:txBody>
      </p:sp>
      <p:sp>
        <p:nvSpPr>
          <p:cNvPr id="1945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dirty="0"/>
              <a:t>Gramatical.</a:t>
            </a:r>
          </a:p>
          <a:p>
            <a:pPr eaLnBrk="1" hangingPunct="1"/>
            <a:r>
              <a:rPr lang="pt-BR" dirty="0"/>
              <a:t>Lógica.</a:t>
            </a:r>
          </a:p>
          <a:p>
            <a:pPr eaLnBrk="1" hangingPunct="1"/>
            <a:r>
              <a:rPr lang="pt-BR" dirty="0"/>
              <a:t>Sistemática.</a:t>
            </a:r>
          </a:p>
          <a:p>
            <a:pPr eaLnBrk="1" hangingPunct="1"/>
            <a:r>
              <a:rPr lang="pt-BR" dirty="0"/>
              <a:t>Histórica.</a:t>
            </a:r>
          </a:p>
          <a:p>
            <a:pPr eaLnBrk="1" hangingPunct="1"/>
            <a:r>
              <a:rPr lang="pt-BR" dirty="0"/>
              <a:t>Sociológica ou </a:t>
            </a:r>
            <a:r>
              <a:rPr lang="pt-BR" dirty="0" smtClean="0"/>
              <a:t>teleológica (ver art. 1º, 3º e 170 da CF/88).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2080076"/>
      </p:ext>
    </p:extLst>
  </p:cSld>
  <p:clrMapOvr>
    <a:masterClrMapping/>
  </p:clrMapOvr>
  <p:transition spd="slow">
    <p:pull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 sz="3200" b="1" u="sng" dirty="0">
                <a:solidFill>
                  <a:srgbClr val="C00000"/>
                </a:solidFill>
              </a:rPr>
              <a:t>PRINCÍPIOS DO DIREITO CIVIL  CLÁSSICO</a:t>
            </a:r>
          </a:p>
        </p:txBody>
      </p:sp>
      <p:sp>
        <p:nvSpPr>
          <p:cNvPr id="2048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pt-BR"/>
          </a:p>
          <a:p>
            <a:pPr eaLnBrk="1" hangingPunct="1"/>
            <a:r>
              <a:rPr lang="pt-BR"/>
              <a:t>Da personalidade.</a:t>
            </a:r>
          </a:p>
          <a:p>
            <a:pPr eaLnBrk="1" hangingPunct="1"/>
            <a:r>
              <a:rPr lang="pt-BR"/>
              <a:t>Da autonomia da vontade.</a:t>
            </a:r>
          </a:p>
          <a:p>
            <a:pPr eaLnBrk="1" hangingPunct="1"/>
            <a:r>
              <a:rPr lang="pt-BR"/>
              <a:t>Da liberdade de estipulação negocial.</a:t>
            </a:r>
          </a:p>
          <a:p>
            <a:pPr eaLnBrk="1" hangingPunct="1"/>
            <a:r>
              <a:rPr lang="pt-BR"/>
              <a:t>Da propriedade individual.</a:t>
            </a:r>
          </a:p>
          <a:p>
            <a:pPr eaLnBrk="1" hangingPunct="1"/>
            <a:r>
              <a:rPr lang="pt-BR"/>
              <a:t>Da intangibilidade familiar.</a:t>
            </a:r>
          </a:p>
          <a:p>
            <a:pPr eaLnBrk="1" hangingPunct="1"/>
            <a:r>
              <a:rPr lang="pt-BR"/>
              <a:t>Da legitimidade da herança e do direito de testar.</a:t>
            </a:r>
          </a:p>
          <a:p>
            <a:pPr eaLnBrk="1" hangingPunct="1"/>
            <a:r>
              <a:rPr lang="pt-BR"/>
              <a:t>Da solidariedade social.</a:t>
            </a:r>
          </a:p>
        </p:txBody>
      </p:sp>
    </p:spTree>
    <p:extLst>
      <p:ext uri="{BB962C8B-B14F-4D97-AF65-F5344CB8AC3E}">
        <p14:creationId xmlns:p14="http://schemas.microsoft.com/office/powerpoint/2010/main" val="499691431"/>
      </p:ext>
    </p:extLst>
  </p:cSld>
  <p:clrMapOvr>
    <a:masterClrMapping/>
  </p:clrMapOvr>
  <p:transition spd="slow">
    <p:pull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 sz="2400" b="1" dirty="0">
                <a:solidFill>
                  <a:srgbClr val="C00000"/>
                </a:solidFill>
              </a:rPr>
              <a:t>PRINCÍPIOS DO DIREITO CIVIL CONTEMPORÂNEO SOB A INFLUÊNCIA DOS DIREITOS FUNDAMENTAIS (substancialidade)</a:t>
            </a:r>
          </a:p>
        </p:txBody>
      </p:sp>
      <p:sp>
        <p:nvSpPr>
          <p:cNvPr id="2150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/>
            <a:r>
              <a:rPr lang="pt-BR" sz="2400" dirty="0"/>
              <a:t>Da </a:t>
            </a:r>
            <a:r>
              <a:rPr lang="pt-BR" sz="2400" b="1" dirty="0" err="1"/>
              <a:t>Eticidade</a:t>
            </a:r>
            <a:r>
              <a:rPr lang="pt-BR" sz="2400" dirty="0"/>
              <a:t>.</a:t>
            </a:r>
          </a:p>
          <a:p>
            <a:pPr algn="ctr" eaLnBrk="1" hangingPunct="1"/>
            <a:r>
              <a:rPr lang="pt-BR" sz="2400" dirty="0"/>
              <a:t> A pessoa humana como fonte de todos os demais valores a ser conjugado com a equidade, a boa-fé, a justa causa, o equilíbrio econômico, etc...</a:t>
            </a:r>
          </a:p>
          <a:p>
            <a:pPr algn="ctr" eaLnBrk="1" hangingPunct="1"/>
            <a:r>
              <a:rPr lang="pt-BR" sz="2400" dirty="0"/>
              <a:t>Da </a:t>
            </a:r>
            <a:r>
              <a:rPr lang="pt-BR" sz="2400" b="1" dirty="0" err="1"/>
              <a:t>Socialidade</a:t>
            </a:r>
            <a:r>
              <a:rPr lang="pt-BR" sz="2400" i="1" dirty="0"/>
              <a:t>. </a:t>
            </a:r>
          </a:p>
          <a:p>
            <a:pPr algn="ctr" eaLnBrk="1" hangingPunct="1"/>
            <a:r>
              <a:rPr lang="pt-BR" sz="2400" dirty="0"/>
              <a:t>Prevalência dos valores coletivos sobre os individuais com resguardo do valor supremo da pessoa humana.</a:t>
            </a:r>
          </a:p>
          <a:p>
            <a:pPr algn="ctr" eaLnBrk="1" hangingPunct="1"/>
            <a:r>
              <a:rPr lang="pt-BR" sz="2400" dirty="0"/>
              <a:t>Da </a:t>
            </a:r>
            <a:r>
              <a:rPr lang="pt-BR" sz="2400" b="1" dirty="0"/>
              <a:t>Operabilidade</a:t>
            </a:r>
            <a:r>
              <a:rPr lang="pt-BR" sz="2400" dirty="0"/>
              <a:t>.</a:t>
            </a:r>
          </a:p>
          <a:p>
            <a:pPr algn="ctr" eaLnBrk="1" hangingPunct="1"/>
            <a:r>
              <a:rPr lang="pt-BR" sz="2400" dirty="0"/>
              <a:t> A efetivação do direito, a eficácia sociológica da aplicabilidade do Direito.</a:t>
            </a:r>
          </a:p>
        </p:txBody>
      </p:sp>
    </p:spTree>
    <p:extLst>
      <p:ext uri="{BB962C8B-B14F-4D97-AF65-F5344CB8AC3E}">
        <p14:creationId xmlns:p14="http://schemas.microsoft.com/office/powerpoint/2010/main" val="3654052282"/>
      </p:ext>
    </p:extLst>
  </p:cSld>
  <p:clrMapOvr>
    <a:masterClrMapping/>
  </p:clrMapOvr>
  <p:transition spd="slow">
    <p:pull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400" b="1" dirty="0" smtClean="0">
                <a:solidFill>
                  <a:srgbClr val="C00000"/>
                </a:solidFill>
                <a:latin typeface="+mn-lt"/>
              </a:rPr>
              <a:t>Fundamento basilar </a:t>
            </a:r>
            <a:r>
              <a:rPr lang="pt-BR" sz="2400" b="1" dirty="0">
                <a:solidFill>
                  <a:srgbClr val="C00000"/>
                </a:solidFill>
                <a:latin typeface="+mn-lt"/>
              </a:rPr>
              <a:t>do Direito </a:t>
            </a:r>
            <a:r>
              <a:rPr lang="pt-BR" sz="2400" b="1" dirty="0" smtClean="0">
                <a:solidFill>
                  <a:srgbClr val="C00000"/>
                </a:solidFill>
                <a:latin typeface="+mn-lt"/>
              </a:rPr>
              <a:t>contemporâneo e do Direito Civil brasileiro:</a:t>
            </a:r>
            <a:r>
              <a:rPr lang="pt-BR" sz="24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pt-BR" sz="2400" b="1" dirty="0">
                <a:solidFill>
                  <a:srgbClr val="C00000"/>
                </a:solidFill>
                <a:latin typeface="+mn-lt"/>
              </a:rPr>
            </a:br>
            <a:r>
              <a:rPr lang="pt-BR" sz="2400" b="1" dirty="0">
                <a:solidFill>
                  <a:srgbClr val="C00000"/>
                </a:solidFill>
                <a:latin typeface="+mn-lt"/>
              </a:rPr>
              <a:t> os Direitos </a:t>
            </a:r>
            <a:r>
              <a:rPr lang="pt-BR" sz="2400" b="1" dirty="0" smtClean="0">
                <a:solidFill>
                  <a:srgbClr val="C00000"/>
                </a:solidFill>
                <a:latin typeface="+mn-lt"/>
              </a:rPr>
              <a:t>Fundamentais</a:t>
            </a:r>
            <a:endParaRPr lang="pt-BR" sz="24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pt-BR" sz="2400" dirty="0"/>
              <a:t>Aspecto </a:t>
            </a:r>
            <a:r>
              <a:rPr lang="pt-BR" sz="2400" b="1" dirty="0"/>
              <a:t>material</a:t>
            </a:r>
            <a:r>
              <a:rPr lang="pt-BR" sz="2400" dirty="0"/>
              <a:t> ou substancial dos Direitos </a:t>
            </a:r>
            <a:r>
              <a:rPr lang="pt-BR" sz="2400" dirty="0" smtClean="0"/>
              <a:t>Fundamentais.</a:t>
            </a:r>
            <a:endParaRPr lang="pt-BR" sz="2400" dirty="0"/>
          </a:p>
          <a:p>
            <a:endParaRPr lang="pt-BR" sz="2400" dirty="0"/>
          </a:p>
          <a:p>
            <a:r>
              <a:rPr lang="pt-BR" sz="2400" b="1" dirty="0"/>
              <a:t>Textura Aberta</a:t>
            </a:r>
            <a:r>
              <a:rPr lang="pt-BR" sz="2400" dirty="0"/>
              <a:t>. Dificuldade de </a:t>
            </a:r>
            <a:r>
              <a:rPr lang="pt-BR" sz="2400" dirty="0" smtClean="0"/>
              <a:t>uma definição que acolha </a:t>
            </a:r>
            <a:r>
              <a:rPr lang="pt-BR" sz="2400" dirty="0"/>
              <a:t>todo o </a:t>
            </a:r>
            <a:r>
              <a:rPr lang="pt-BR" sz="2400" dirty="0" smtClean="0"/>
              <a:t>conteúdo dos Direitos </a:t>
            </a:r>
            <a:r>
              <a:rPr lang="pt-BR" sz="2400" dirty="0"/>
              <a:t>Fundamentais explícitos e </a:t>
            </a:r>
            <a:r>
              <a:rPr lang="pt-BR" sz="2400" dirty="0" smtClean="0"/>
              <a:t>implícitos.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 err="1"/>
              <a:t>Fundamentalidade</a:t>
            </a:r>
            <a:r>
              <a:rPr lang="pt-BR" sz="2400" dirty="0"/>
              <a:t> dos Direitos Fundamentais como </a:t>
            </a:r>
            <a:r>
              <a:rPr lang="pt-BR" sz="2400" b="1" dirty="0"/>
              <a:t>efetivação da Dignidade Humana</a:t>
            </a:r>
            <a:r>
              <a:rPr lang="pt-BR" sz="2400" dirty="0" smtClean="0"/>
              <a:t>. O epicentro do sistema jurídico.</a:t>
            </a:r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07660533"/>
      </p:ext>
    </p:extLst>
  </p:cSld>
  <p:clrMapOvr>
    <a:masterClrMapping/>
  </p:clrMapOvr>
  <p:transition spd="slow">
    <p:pull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800" b="1" dirty="0" smtClean="0">
                <a:solidFill>
                  <a:srgbClr val="C00000"/>
                </a:solidFill>
              </a:rPr>
              <a:t>Substancialidade </a:t>
            </a:r>
            <a:r>
              <a:rPr lang="pt-BR" sz="3800" b="1" dirty="0">
                <a:solidFill>
                  <a:srgbClr val="C00000"/>
                </a:solidFill>
              </a:rPr>
              <a:t>da Dignidade Humana: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2400" dirty="0" smtClean="0"/>
              <a:t>A </a:t>
            </a:r>
            <a:r>
              <a:rPr lang="pt-BR" sz="2400" dirty="0"/>
              <a:t>vida;</a:t>
            </a:r>
          </a:p>
          <a:p>
            <a:r>
              <a:rPr lang="pt-BR" sz="2400" dirty="0"/>
              <a:t>A personalidade (Ser sujeito de </a:t>
            </a:r>
            <a:r>
              <a:rPr lang="pt-BR" sz="2400" dirty="0" smtClean="0"/>
              <a:t>direitos</a:t>
            </a:r>
            <a:r>
              <a:rPr lang="pt-BR" sz="2400" dirty="0"/>
              <a:t>);</a:t>
            </a:r>
          </a:p>
          <a:p>
            <a:r>
              <a:rPr lang="pt-BR" sz="2400" dirty="0"/>
              <a:t>A integridade;</a:t>
            </a:r>
          </a:p>
          <a:p>
            <a:r>
              <a:rPr lang="pt-BR" sz="2400" dirty="0"/>
              <a:t>A </a:t>
            </a:r>
            <a:r>
              <a:rPr lang="pt-BR" sz="2400" dirty="0" err="1"/>
              <a:t>eticidade</a:t>
            </a:r>
            <a:r>
              <a:rPr lang="pt-BR" sz="2400" dirty="0"/>
              <a:t>;</a:t>
            </a:r>
          </a:p>
          <a:p>
            <a:r>
              <a:rPr lang="pt-BR" sz="2400" dirty="0"/>
              <a:t>A efetividade;</a:t>
            </a:r>
          </a:p>
          <a:p>
            <a:r>
              <a:rPr lang="pt-BR" sz="2400" dirty="0"/>
              <a:t>A liberdade;</a:t>
            </a:r>
          </a:p>
          <a:p>
            <a:r>
              <a:rPr lang="pt-BR" sz="2400" dirty="0"/>
              <a:t>A igualdade;</a:t>
            </a:r>
          </a:p>
          <a:p>
            <a:r>
              <a:rPr lang="pt-BR" sz="2400" dirty="0"/>
              <a:t>A solidariedade (Direitos Sociais);</a:t>
            </a:r>
          </a:p>
          <a:p>
            <a:r>
              <a:rPr lang="pt-BR" sz="2400" dirty="0"/>
              <a:t>Enfim, a Função Social do Direito.</a:t>
            </a:r>
          </a:p>
          <a:p>
            <a:pPr>
              <a:buFont typeface="Wingdings" pitchFamily="2" charset="2"/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0655675"/>
      </p:ext>
    </p:extLst>
  </p:cSld>
  <p:clrMapOvr>
    <a:masterClrMapping/>
  </p:clrMapOvr>
  <p:transition spd="slow">
    <p:pull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dirty="0" smtClean="0"/>
              <a:t>TÍTULO </a:t>
            </a:r>
            <a:r>
              <a:rPr lang="pt-BR" sz="1600" dirty="0"/>
              <a:t>I</a:t>
            </a:r>
            <a:br>
              <a:rPr lang="pt-BR" sz="1600" dirty="0"/>
            </a:br>
            <a:r>
              <a:rPr lang="pt-BR" sz="1600" b="1" dirty="0"/>
              <a:t>Dos Princípios </a:t>
            </a:r>
            <a:r>
              <a:rPr lang="pt-BR" sz="1600" b="1" dirty="0" smtClean="0"/>
              <a:t>Fundamentais</a:t>
            </a:r>
          </a:p>
          <a:p>
            <a:pPr algn="ctr"/>
            <a:endParaRPr lang="pt-BR" sz="1600" dirty="0"/>
          </a:p>
          <a:p>
            <a:r>
              <a:rPr lang="pt-BR" sz="1600" dirty="0"/>
              <a:t>Art. 1º A República Federativa do Brasil, formada pela união indissolúvel dos Estados e Municípios e do Distrito Federal, constitui-se em </a:t>
            </a:r>
            <a:r>
              <a:rPr lang="pt-BR" sz="1600" b="1" dirty="0"/>
              <a:t>Estado Democrático de Direito</a:t>
            </a:r>
            <a:r>
              <a:rPr lang="pt-BR" sz="1600" dirty="0"/>
              <a:t> e tem como </a:t>
            </a:r>
            <a:r>
              <a:rPr lang="pt-BR" sz="1600" b="1" dirty="0"/>
              <a:t>fundamentos</a:t>
            </a:r>
            <a:r>
              <a:rPr lang="pt-BR" sz="1600" dirty="0"/>
              <a:t>:</a:t>
            </a:r>
          </a:p>
          <a:p>
            <a:r>
              <a:rPr lang="pt-BR" sz="1600" dirty="0"/>
              <a:t>I - a soberania;</a:t>
            </a:r>
          </a:p>
          <a:p>
            <a:r>
              <a:rPr lang="pt-BR" sz="1600" dirty="0"/>
              <a:t>II - a cidadania</a:t>
            </a:r>
          </a:p>
          <a:p>
            <a:r>
              <a:rPr lang="pt-BR" sz="1600" b="1" dirty="0"/>
              <a:t>III - a dignidade da pessoa humana</a:t>
            </a:r>
            <a:r>
              <a:rPr lang="pt-BR" sz="1600" dirty="0"/>
              <a:t>;</a:t>
            </a:r>
          </a:p>
          <a:p>
            <a:r>
              <a:rPr lang="pt-BR" sz="1600" b="1" dirty="0"/>
              <a:t>IV - os valores sociais do trabalho e da livre iniciativa</a:t>
            </a:r>
            <a:r>
              <a:rPr lang="pt-BR" sz="1600" dirty="0"/>
              <a:t>;</a:t>
            </a:r>
          </a:p>
          <a:p>
            <a:r>
              <a:rPr lang="pt-BR" sz="1600" dirty="0"/>
              <a:t>V - o pluralismo político.</a:t>
            </a:r>
          </a:p>
          <a:p>
            <a:r>
              <a:rPr lang="pt-BR" sz="1600" dirty="0"/>
              <a:t>Parágrafo único. Todo o poder emana do povo, que o exerce por meio de representantes eleitos ou diretamente, nos termos desta Constituição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951296625"/>
      </p:ext>
    </p:extLst>
  </p:cSld>
  <p:clrMapOvr>
    <a:masterClrMapping/>
  </p:clrMapOvr>
  <p:transition spd="slow">
    <p:pull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dirty="0" smtClean="0"/>
              <a:t>TÍTULO </a:t>
            </a:r>
            <a:r>
              <a:rPr lang="pt-BR" sz="1600" dirty="0"/>
              <a:t>I</a:t>
            </a:r>
            <a:br>
              <a:rPr lang="pt-BR" sz="1600" dirty="0"/>
            </a:br>
            <a:r>
              <a:rPr lang="pt-BR" sz="1600" b="1" dirty="0"/>
              <a:t>Dos Princípios </a:t>
            </a:r>
            <a:r>
              <a:rPr lang="pt-BR" sz="1600" b="1" dirty="0" smtClean="0"/>
              <a:t>Fundamentais</a:t>
            </a:r>
          </a:p>
          <a:p>
            <a:pPr algn="ctr"/>
            <a:endParaRPr lang="pt-BR" sz="1600" b="1" dirty="0"/>
          </a:p>
          <a:p>
            <a:r>
              <a:rPr lang="pt-BR" sz="1600" dirty="0"/>
              <a:t>Art. 3º Constituem </a:t>
            </a:r>
            <a:r>
              <a:rPr lang="pt-BR" sz="1600" b="1" dirty="0"/>
              <a:t>objetivos fundamentais </a:t>
            </a:r>
            <a:r>
              <a:rPr lang="pt-BR" sz="1600" dirty="0"/>
              <a:t>da República Federativa do Brasil:</a:t>
            </a:r>
          </a:p>
          <a:p>
            <a:r>
              <a:rPr lang="pt-BR" sz="1600" dirty="0"/>
              <a:t>I - construir uma </a:t>
            </a:r>
            <a:r>
              <a:rPr lang="pt-BR" sz="1600" b="1" dirty="0"/>
              <a:t>sociedade livre, justa e solidária</a:t>
            </a:r>
            <a:r>
              <a:rPr lang="pt-BR" sz="1600" dirty="0"/>
              <a:t>;</a:t>
            </a:r>
          </a:p>
          <a:p>
            <a:r>
              <a:rPr lang="pt-BR" sz="1600" dirty="0"/>
              <a:t>II - garantir o </a:t>
            </a:r>
            <a:r>
              <a:rPr lang="pt-BR" sz="1600" b="1" dirty="0"/>
              <a:t>desenvolvimento nacional</a:t>
            </a:r>
            <a:r>
              <a:rPr lang="pt-BR" sz="1600" dirty="0"/>
              <a:t>;</a:t>
            </a:r>
          </a:p>
          <a:p>
            <a:r>
              <a:rPr lang="pt-BR" sz="1600" dirty="0"/>
              <a:t>III - </a:t>
            </a:r>
            <a:r>
              <a:rPr lang="pt-BR" sz="1600" b="1" dirty="0"/>
              <a:t>erradicar a pobreza e a marginalização e reduzir as desigualdades sociais e regionais</a:t>
            </a:r>
            <a:r>
              <a:rPr lang="pt-BR" sz="1600" dirty="0"/>
              <a:t>;</a:t>
            </a:r>
          </a:p>
          <a:p>
            <a:r>
              <a:rPr lang="pt-BR" sz="1600" dirty="0"/>
              <a:t>IV - </a:t>
            </a:r>
            <a:r>
              <a:rPr lang="pt-BR" sz="1600" b="1" dirty="0"/>
              <a:t>promover o bem de todos, sem preconceitos de origem, raça, sexo, cor, idade e quaisquer outras formas de discriminação</a:t>
            </a:r>
            <a:r>
              <a:rPr lang="pt-BR" sz="1600" dirty="0"/>
              <a:t>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51708652"/>
      </p:ext>
    </p:extLst>
  </p:cSld>
  <p:clrMapOvr>
    <a:masterClrMapping/>
  </p:clrMapOvr>
  <p:transition spd="slow">
    <p:pull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 smtClean="0"/>
              <a:t>TÍTULO </a:t>
            </a:r>
            <a:r>
              <a:rPr lang="pt-BR" sz="1600" b="1" dirty="0"/>
              <a:t>II</a:t>
            </a:r>
            <a:br>
              <a:rPr lang="pt-BR" sz="1600" b="1" dirty="0"/>
            </a:br>
            <a:r>
              <a:rPr lang="pt-BR" sz="1600" b="1" dirty="0"/>
              <a:t>Dos Direitos e Garantias Fundamentais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DIREITOS E DEVERES INDIVIDUAIS E </a:t>
            </a:r>
            <a:r>
              <a:rPr lang="pt-BR" sz="1600" b="1" dirty="0" smtClean="0"/>
              <a:t>COLETIVOS</a:t>
            </a:r>
          </a:p>
          <a:p>
            <a:pPr algn="ctr"/>
            <a:endParaRPr lang="pt-BR" sz="1600" b="1" dirty="0"/>
          </a:p>
          <a:p>
            <a:r>
              <a:rPr lang="pt-BR" sz="1600" dirty="0"/>
              <a:t>Art. 5º Todos são iguais perante a lei, sem distinção de qualquer natureza, garantindo-se aos brasileiros e aos estrangeiros residentes no País a inviolabilidade do direito à vida, à liberdade, à igualdade, à segurança e à propriedade, nos termos seguintes</a:t>
            </a:r>
            <a:r>
              <a:rPr lang="pt-BR" sz="1600" dirty="0" smtClean="0"/>
              <a:t>:</a:t>
            </a:r>
          </a:p>
          <a:p>
            <a:endParaRPr lang="pt-BR" sz="1600" dirty="0" smtClean="0"/>
          </a:p>
          <a:p>
            <a:r>
              <a:rPr lang="pt-BR" sz="1600" dirty="0" smtClean="0"/>
              <a:t>I - homens e mulheres são iguais em direitos e obrigações, nos termos desta Constituição;</a:t>
            </a:r>
          </a:p>
          <a:p>
            <a:endParaRPr lang="pt-BR" sz="1600" dirty="0" smtClean="0"/>
          </a:p>
          <a:p>
            <a:r>
              <a:rPr lang="pt-BR" sz="1600" dirty="0" smtClean="0"/>
              <a:t>II - ninguém será obrigado a fazer ou deixar de fazer alguma coisa senão em virtude de lei;</a:t>
            </a:r>
          </a:p>
        </p:txBody>
      </p:sp>
    </p:spTree>
    <p:extLst>
      <p:ext uri="{BB962C8B-B14F-4D97-AF65-F5344CB8AC3E}">
        <p14:creationId xmlns:p14="http://schemas.microsoft.com/office/powerpoint/2010/main" val="3639521185"/>
      </p:ext>
    </p:extLst>
  </p:cSld>
  <p:clrMapOvr>
    <a:masterClrMapping/>
  </p:clrMapOvr>
  <p:transition spd="slow">
    <p:pull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 smtClean="0"/>
              <a:t>TÍTULO </a:t>
            </a:r>
            <a:r>
              <a:rPr lang="pt-BR" sz="1600" b="1" dirty="0"/>
              <a:t>II</a:t>
            </a:r>
            <a:br>
              <a:rPr lang="pt-BR" sz="1600" b="1" dirty="0"/>
            </a:br>
            <a:r>
              <a:rPr lang="pt-BR" sz="1600" b="1" dirty="0"/>
              <a:t>Dos Direitos e Garantias Fundamentais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DIREITOS E DEVERES INDIVIDUAIS E </a:t>
            </a:r>
            <a:r>
              <a:rPr lang="pt-BR" sz="1600" b="1" dirty="0" smtClean="0"/>
              <a:t>COLETIVOS</a:t>
            </a:r>
          </a:p>
          <a:p>
            <a:pPr algn="ctr"/>
            <a:endParaRPr lang="pt-BR" sz="1600" b="1" dirty="0"/>
          </a:p>
          <a:p>
            <a:r>
              <a:rPr lang="pt-BR" sz="1600" dirty="0"/>
              <a:t>Art. 5º Todos são iguais perante a lei, sem distinção de qualquer natureza, garantindo-se aos brasileiros e aos estrangeiros residentes no País a inviolabilidade do direito à vida, à liberdade, à igualdade, à segurança e à propriedade, nos termos seguintes</a:t>
            </a:r>
            <a:r>
              <a:rPr lang="pt-BR" sz="1600" dirty="0" smtClean="0"/>
              <a:t>:</a:t>
            </a:r>
          </a:p>
          <a:p>
            <a:endParaRPr lang="pt-BR" sz="1600" dirty="0" smtClean="0"/>
          </a:p>
          <a:p>
            <a:r>
              <a:rPr lang="pt-BR" sz="1600" dirty="0" smtClean="0"/>
              <a:t>I - homens e mulheres são iguais em direitos e obrigações, nos termos desta Constituição;</a:t>
            </a:r>
          </a:p>
          <a:p>
            <a:endParaRPr lang="pt-BR" sz="1600" dirty="0" smtClean="0"/>
          </a:p>
          <a:p>
            <a:r>
              <a:rPr lang="pt-BR" sz="1600" dirty="0" smtClean="0"/>
              <a:t>II - ninguém será obrigado a fazer ou deixar de fazer alguma coisa senão em virtude de lei;</a:t>
            </a:r>
          </a:p>
        </p:txBody>
      </p:sp>
    </p:spTree>
    <p:extLst>
      <p:ext uri="{BB962C8B-B14F-4D97-AF65-F5344CB8AC3E}">
        <p14:creationId xmlns:p14="http://schemas.microsoft.com/office/powerpoint/2010/main" val="424226532"/>
      </p:ext>
    </p:extLst>
  </p:cSld>
  <p:clrMapOvr>
    <a:masterClrMapping/>
  </p:clrMapOvr>
  <p:transition spd="slow">
    <p:pull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 smtClean="0"/>
              <a:t>TÍTULO </a:t>
            </a:r>
            <a:r>
              <a:rPr lang="pt-BR" sz="1600" b="1" dirty="0"/>
              <a:t>II</a:t>
            </a:r>
            <a:br>
              <a:rPr lang="pt-BR" sz="1600" b="1" dirty="0"/>
            </a:br>
            <a:r>
              <a:rPr lang="pt-BR" sz="1600" b="1" dirty="0"/>
              <a:t>Dos Direitos e Garantias Fundamentais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DIREITOS E DEVERES INDIVIDUAIS E </a:t>
            </a:r>
            <a:r>
              <a:rPr lang="pt-BR" sz="1600" b="1" dirty="0" smtClean="0"/>
              <a:t>COLETIVOS</a:t>
            </a:r>
          </a:p>
          <a:p>
            <a:pPr algn="ctr"/>
            <a:endParaRPr lang="pt-BR" sz="1600" b="1" dirty="0"/>
          </a:p>
          <a:p>
            <a:r>
              <a:rPr lang="pt-BR" sz="1600" dirty="0"/>
              <a:t>III - ninguém será submetido a tortura nem a tratamento desumano ou degradante</a:t>
            </a:r>
            <a:r>
              <a:rPr lang="pt-BR" sz="1600" dirty="0" smtClean="0"/>
              <a:t>;</a:t>
            </a:r>
          </a:p>
          <a:p>
            <a:endParaRPr lang="pt-BR" sz="1600" dirty="0"/>
          </a:p>
          <a:p>
            <a:r>
              <a:rPr lang="pt-BR" sz="1600" dirty="0"/>
              <a:t>IV - é livre a manifestação do pensamento, sendo vedado o anonimato;  </a:t>
            </a:r>
            <a:endParaRPr lang="pt-BR" sz="1600" dirty="0" smtClean="0"/>
          </a:p>
          <a:p>
            <a:endParaRPr lang="pt-BR" sz="1600" dirty="0"/>
          </a:p>
          <a:p>
            <a:r>
              <a:rPr lang="pt-BR" sz="1600" dirty="0"/>
              <a:t>V - é assegurado o direito de resposta, proporcional ao agravo, além da indenização por dano material, moral ou à imagem; </a:t>
            </a:r>
          </a:p>
          <a:p>
            <a:endParaRPr lang="pt-BR" sz="1600" dirty="0" smtClean="0"/>
          </a:p>
          <a:p>
            <a:r>
              <a:rPr lang="pt-BR" sz="1600" dirty="0" smtClean="0"/>
              <a:t>VI - é inviolável a liberdade de consciência e de crença, sendo assegurado o livre exercício dos cultos religiosos e garantida, na forma da lei, a proteção aos locais de culto e a suas liturgias; 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631162771"/>
      </p:ext>
    </p:extLst>
  </p:cSld>
  <p:clrMapOvr>
    <a:masterClrMapping/>
  </p:clrMapOvr>
  <p:transition spd="slow">
    <p:pull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u="sng" dirty="0">
                <a:hlinkClick r:id="rId2"/>
              </a:rPr>
              <a:t>CONSTITUIÇÃO DA REPÚBLICA FEDERATIVA DO BRASIL DE 1988</a:t>
            </a:r>
            <a:endParaRPr lang="pt-BR" sz="2900" b="1" u="sng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 smtClean="0"/>
              <a:t>TÍTULO </a:t>
            </a:r>
            <a:r>
              <a:rPr lang="pt-BR" sz="1600" b="1" dirty="0"/>
              <a:t>II</a:t>
            </a:r>
            <a:br>
              <a:rPr lang="pt-BR" sz="1600" b="1" dirty="0"/>
            </a:br>
            <a:r>
              <a:rPr lang="pt-BR" sz="1600" b="1" dirty="0"/>
              <a:t>Dos Direitos e Garantias Fundamentais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DIREITOS E DEVERES INDIVIDUAIS E </a:t>
            </a:r>
            <a:r>
              <a:rPr lang="pt-BR" sz="1600" b="1" dirty="0" smtClean="0"/>
              <a:t>COLETIVOS</a:t>
            </a:r>
          </a:p>
          <a:p>
            <a:r>
              <a:rPr lang="pt-BR" sz="1600" dirty="0"/>
              <a:t> </a:t>
            </a:r>
            <a:r>
              <a:rPr lang="pt-BR" sz="1600" dirty="0" smtClean="0"/>
              <a:t>... </a:t>
            </a:r>
          </a:p>
          <a:p>
            <a:r>
              <a:rPr lang="pt-BR" sz="1600" dirty="0" smtClean="0"/>
              <a:t>VIII </a:t>
            </a:r>
            <a:r>
              <a:rPr lang="pt-BR" sz="1600" dirty="0"/>
              <a:t>- ninguém será privado de direitos por motivo de crença religiosa ou de convicção filosófica ou política, salvo se as invocar para eximir-se de obrigação legal a todos imposta e recusar-se a cumprir prestação alternativa, fixada em lei;</a:t>
            </a:r>
          </a:p>
          <a:p>
            <a:endParaRPr lang="pt-BR" sz="1600" dirty="0" smtClean="0"/>
          </a:p>
          <a:p>
            <a:r>
              <a:rPr lang="pt-BR" sz="1600" dirty="0" smtClean="0"/>
              <a:t>IX </a:t>
            </a:r>
            <a:r>
              <a:rPr lang="pt-BR" sz="1600" dirty="0"/>
              <a:t>- é livre a expressão da atividade intelectual, artística, científica e de comunicação, independentemente de censura ou licença;</a:t>
            </a:r>
          </a:p>
          <a:p>
            <a:endParaRPr lang="pt-BR" sz="1600" dirty="0" smtClean="0"/>
          </a:p>
          <a:p>
            <a:r>
              <a:rPr lang="pt-BR" sz="1600" dirty="0" smtClean="0"/>
              <a:t>X </a:t>
            </a:r>
            <a:r>
              <a:rPr lang="pt-BR" sz="1600" dirty="0"/>
              <a:t>- são invioláveis a intimidade, a vida privada, a honra e a imagem das pessoas, assegurado o direito a indenização pelo dano material ou moral decorrente de sua violação;  </a:t>
            </a:r>
          </a:p>
        </p:txBody>
      </p:sp>
    </p:spTree>
    <p:extLst>
      <p:ext uri="{BB962C8B-B14F-4D97-AF65-F5344CB8AC3E}">
        <p14:creationId xmlns:p14="http://schemas.microsoft.com/office/powerpoint/2010/main" val="1450452982"/>
      </p:ext>
    </p:extLst>
  </p:cSld>
  <p:clrMapOvr>
    <a:masterClrMapping/>
  </p:clrMapOvr>
  <p:transition spd="slow">
    <p:pull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sz="2900" b="1">
                <a:hlinkClick r:id="rId2"/>
              </a:rPr>
              <a:t>CONSTITUIÇÃO DA REPÚBLICA FEDERATIVA DO BRASIL DE 1988</a:t>
            </a:r>
            <a:endParaRPr lang="pt-BR" sz="2900" b="1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 smtClean="0"/>
              <a:t>TÍTULO </a:t>
            </a:r>
            <a:r>
              <a:rPr lang="pt-BR" sz="1600" b="1" dirty="0"/>
              <a:t>II</a:t>
            </a:r>
            <a:br>
              <a:rPr lang="pt-BR" sz="1600" b="1" dirty="0"/>
            </a:br>
            <a:r>
              <a:rPr lang="pt-BR" sz="1600" b="1" dirty="0"/>
              <a:t>Dos Direitos e Garantias Fundamentais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DIREITOS E DEVERES INDIVIDUAIS E </a:t>
            </a:r>
            <a:r>
              <a:rPr lang="pt-BR" sz="1600" b="1" dirty="0" smtClean="0"/>
              <a:t>COLETIVOS</a:t>
            </a:r>
          </a:p>
          <a:p>
            <a:r>
              <a:rPr lang="pt-BR" sz="1600" dirty="0"/>
              <a:t> </a:t>
            </a:r>
            <a:r>
              <a:rPr lang="pt-BR" sz="1600" dirty="0" smtClean="0"/>
              <a:t>... </a:t>
            </a:r>
          </a:p>
          <a:p>
            <a:r>
              <a:rPr lang="pt-BR" sz="1600" dirty="0"/>
              <a:t>XI - a casa é asilo inviolável do indivíduo, ninguém nela podendo penetrar sem consentimento do morador, salvo em caso de flagrante delito ou desastre, ou para prestar socorro, ou, durante o dia, por determinação judicial;  </a:t>
            </a:r>
            <a:endParaRPr lang="pt-BR" sz="1600" dirty="0" smtClean="0"/>
          </a:p>
          <a:p>
            <a:endParaRPr lang="pt-BR" sz="1600" dirty="0"/>
          </a:p>
          <a:p>
            <a:r>
              <a:rPr lang="pt-BR" sz="1600" dirty="0"/>
              <a:t>XII - é inviolável o sigilo da correspondência e das comunicações telegráficas, de dados e das comunicações telefônicas, salvo, no último caso, por ordem judicial, nas hipóteses e na forma que a lei estabelecer para fins de investigação criminal ou instrução processual penal;  </a:t>
            </a:r>
            <a:endParaRPr lang="pt-BR" sz="1600" dirty="0" smtClean="0"/>
          </a:p>
          <a:p>
            <a:endParaRPr lang="pt-BR" sz="1600" dirty="0"/>
          </a:p>
          <a:p>
            <a:r>
              <a:rPr lang="pt-BR" sz="1600" dirty="0" smtClean="0"/>
              <a:t>XIII </a:t>
            </a:r>
            <a:r>
              <a:rPr lang="pt-BR" sz="1600" dirty="0"/>
              <a:t>- é livre o exercício de qualquer trabalho, ofício ou profissão, atendidas as qualificações profissionais que a lei estabelecer;   </a:t>
            </a:r>
          </a:p>
        </p:txBody>
      </p:sp>
    </p:spTree>
    <p:extLst>
      <p:ext uri="{BB962C8B-B14F-4D97-AF65-F5344CB8AC3E}">
        <p14:creationId xmlns:p14="http://schemas.microsoft.com/office/powerpoint/2010/main" val="19202882"/>
      </p:ext>
    </p:extLst>
  </p:cSld>
  <p:clrMapOvr>
    <a:masterClrMapping/>
  </p:clrMapOvr>
  <p:transition spd="slow">
    <p:pull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 smtClean="0"/>
              <a:t>TÍTULO </a:t>
            </a:r>
            <a:r>
              <a:rPr lang="pt-BR" sz="1600" b="1" dirty="0"/>
              <a:t>II</a:t>
            </a:r>
            <a:br>
              <a:rPr lang="pt-BR" sz="1600" b="1" dirty="0"/>
            </a:br>
            <a:r>
              <a:rPr lang="pt-BR" sz="1600" b="1" dirty="0"/>
              <a:t>Dos Direitos e Garantias Fundamentais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DIREITOS E DEVERES INDIVIDUAIS E </a:t>
            </a:r>
            <a:r>
              <a:rPr lang="pt-BR" sz="1600" b="1" dirty="0" smtClean="0"/>
              <a:t>COLETIVOS</a:t>
            </a:r>
          </a:p>
          <a:p>
            <a:r>
              <a:rPr lang="pt-BR" sz="1600" dirty="0"/>
              <a:t> </a:t>
            </a:r>
            <a:r>
              <a:rPr lang="pt-BR" sz="1600" dirty="0" smtClean="0"/>
              <a:t>... </a:t>
            </a:r>
          </a:p>
          <a:p>
            <a:r>
              <a:rPr lang="pt-BR" sz="1600" dirty="0"/>
              <a:t>XV - é livre a locomoção no território nacional em tempo de paz, podendo qualquer pessoa, nos termos da lei, nele entrar, permanecer ou dele sair com seus bens</a:t>
            </a:r>
            <a:r>
              <a:rPr lang="pt-BR" sz="1600" dirty="0" smtClean="0"/>
              <a:t>;</a:t>
            </a:r>
          </a:p>
          <a:p>
            <a:endParaRPr lang="pt-BR" sz="1600" dirty="0"/>
          </a:p>
          <a:p>
            <a:r>
              <a:rPr lang="pt-BR" sz="1600" dirty="0"/>
              <a:t>XVI - todos podem reunir-se pacificamente, sem armas, em locais abertos ao público, independentemente de autorização, desde que não frustrem outra reunião anteriormente convocada para o mesmo local, sendo apenas exigido prévio aviso à autoridade competente</a:t>
            </a:r>
            <a:r>
              <a:rPr lang="pt-BR" sz="1600" dirty="0" smtClean="0"/>
              <a:t>;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15984903"/>
      </p:ext>
    </p:extLst>
  </p:cSld>
  <p:clrMapOvr>
    <a:masterClrMapping/>
  </p:clrMapOvr>
  <p:transition spd="slow">
    <p:pull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 smtClean="0"/>
              <a:t>TÍTULO </a:t>
            </a:r>
            <a:r>
              <a:rPr lang="pt-BR" sz="1600" b="1" dirty="0"/>
              <a:t>II</a:t>
            </a:r>
            <a:br>
              <a:rPr lang="pt-BR" sz="1600" b="1" dirty="0"/>
            </a:br>
            <a:r>
              <a:rPr lang="pt-BR" sz="1600" b="1" dirty="0"/>
              <a:t>Dos Direitos e Garantias Fundamentais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DIREITOS E DEVERES INDIVIDUAIS E </a:t>
            </a:r>
            <a:r>
              <a:rPr lang="pt-BR" sz="1600" b="1" dirty="0" smtClean="0"/>
              <a:t>COLETIVOS</a:t>
            </a:r>
          </a:p>
          <a:p>
            <a:r>
              <a:rPr lang="pt-BR" sz="1600" dirty="0"/>
              <a:t> </a:t>
            </a:r>
            <a:r>
              <a:rPr lang="pt-BR" sz="1600" dirty="0" smtClean="0"/>
              <a:t>... </a:t>
            </a:r>
          </a:p>
          <a:p>
            <a:r>
              <a:rPr lang="pt-BR" sz="1600" dirty="0"/>
              <a:t>XVII - é plena a liberdade de associação para fins lícitos, vedada a de caráter paramilitar;</a:t>
            </a:r>
          </a:p>
          <a:p>
            <a:endParaRPr lang="pt-BR" sz="1600" dirty="0"/>
          </a:p>
          <a:p>
            <a:r>
              <a:rPr lang="pt-BR" sz="1600" dirty="0"/>
              <a:t>XVIII - a criação de associações e, na forma da lei, a de cooperativas independem de autorização, sendo vedada a interferência estatal em seu funcionamento;</a:t>
            </a:r>
          </a:p>
          <a:p>
            <a:endParaRPr lang="pt-BR" sz="1600" dirty="0" smtClean="0"/>
          </a:p>
          <a:p>
            <a:r>
              <a:rPr lang="pt-BR" sz="1600" dirty="0" smtClean="0"/>
              <a:t>XIX </a:t>
            </a:r>
            <a:r>
              <a:rPr lang="pt-BR" sz="1600" dirty="0"/>
              <a:t>- as associações só poderão ser compulsoriamente dissolvidas ou ter suas atividades suspensas por decisão judicial, exigindo-se, no primeiro caso, o trânsito em julgado;</a:t>
            </a:r>
          </a:p>
          <a:p>
            <a:endParaRPr lang="pt-BR" sz="1600" dirty="0" smtClean="0"/>
          </a:p>
          <a:p>
            <a:r>
              <a:rPr lang="pt-BR" sz="1600" dirty="0" smtClean="0"/>
              <a:t>XX </a:t>
            </a:r>
            <a:r>
              <a:rPr lang="pt-BR" sz="1600" dirty="0"/>
              <a:t>- ninguém poderá ser compelido a associar-se ou a permanecer associado;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868185785"/>
      </p:ext>
    </p:extLst>
  </p:cSld>
  <p:clrMapOvr>
    <a:masterClrMapping/>
  </p:clrMapOvr>
  <p:transition spd="slow">
    <p:pull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 smtClean="0"/>
              <a:t>TÍTULO </a:t>
            </a:r>
            <a:r>
              <a:rPr lang="pt-BR" sz="1600" b="1" dirty="0"/>
              <a:t>II</a:t>
            </a:r>
            <a:br>
              <a:rPr lang="pt-BR" sz="1600" b="1" dirty="0"/>
            </a:br>
            <a:r>
              <a:rPr lang="pt-BR" sz="1600" b="1" dirty="0"/>
              <a:t>Dos Direitos e Garantias Fundamentais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DIREITOS E DEVERES INDIVIDUAIS E </a:t>
            </a:r>
            <a:r>
              <a:rPr lang="pt-BR" sz="1600" b="1" dirty="0" smtClean="0"/>
              <a:t>COLETIVOS</a:t>
            </a:r>
          </a:p>
          <a:p>
            <a:r>
              <a:rPr lang="pt-BR" sz="1600" dirty="0"/>
              <a:t> </a:t>
            </a:r>
            <a:r>
              <a:rPr lang="pt-BR" sz="1600" dirty="0" smtClean="0"/>
              <a:t>... </a:t>
            </a:r>
          </a:p>
          <a:p>
            <a:r>
              <a:rPr lang="pt-BR" sz="1600" dirty="0"/>
              <a:t>XXI - as entidades associativas, quando expressamente autorizadas, têm legitimidade para representar seus filiados judicial ou extrajudicialmente</a:t>
            </a:r>
            <a:r>
              <a:rPr lang="pt-BR" sz="1600" dirty="0" smtClean="0"/>
              <a:t>;</a:t>
            </a:r>
          </a:p>
          <a:p>
            <a:endParaRPr lang="pt-BR" sz="1600" dirty="0"/>
          </a:p>
          <a:p>
            <a:r>
              <a:rPr lang="pt-BR" sz="1600" dirty="0"/>
              <a:t>XXII - é garantido o direito de propriedade</a:t>
            </a:r>
            <a:r>
              <a:rPr lang="pt-BR" sz="1600" dirty="0" smtClean="0"/>
              <a:t>;</a:t>
            </a:r>
          </a:p>
          <a:p>
            <a:endParaRPr lang="pt-BR" sz="1600" dirty="0"/>
          </a:p>
          <a:p>
            <a:r>
              <a:rPr lang="pt-BR" sz="1600" dirty="0" smtClean="0"/>
              <a:t>XXIII </a:t>
            </a:r>
            <a:r>
              <a:rPr lang="pt-BR" sz="1600" dirty="0"/>
              <a:t>- a propriedade atenderá a sua função social</a:t>
            </a:r>
            <a:r>
              <a:rPr lang="pt-BR" sz="1600" dirty="0" smtClean="0"/>
              <a:t>;</a:t>
            </a:r>
          </a:p>
          <a:p>
            <a:endParaRPr lang="pt-BR" sz="1600" dirty="0"/>
          </a:p>
          <a:p>
            <a:r>
              <a:rPr lang="pt-BR" sz="1600" dirty="0"/>
              <a:t>XXIV - a lei estabelecerá o procedimento para desapropriação por necessidade ou utilidade pública, ou por interesse social, mediante justa e prévia indenização em dinheiro, ressalvados os casos previstos nesta Constituição</a:t>
            </a:r>
            <a:r>
              <a:rPr lang="pt-BR" sz="1600" dirty="0" smtClean="0"/>
              <a:t>;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820207624"/>
      </p:ext>
    </p:extLst>
  </p:cSld>
  <p:clrMapOvr>
    <a:masterClrMapping/>
  </p:clrMapOvr>
  <p:transition spd="slow">
    <p:pull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 smtClean="0"/>
              <a:t>TÍTULO </a:t>
            </a:r>
            <a:r>
              <a:rPr lang="pt-BR" sz="1600" b="1" dirty="0"/>
              <a:t>II</a:t>
            </a:r>
            <a:br>
              <a:rPr lang="pt-BR" sz="1600" b="1" dirty="0"/>
            </a:br>
            <a:r>
              <a:rPr lang="pt-BR" sz="1600" b="1" dirty="0"/>
              <a:t>Dos Direitos e Garantias Fundamentais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DIREITOS E DEVERES INDIVIDUAIS E </a:t>
            </a:r>
            <a:r>
              <a:rPr lang="pt-BR" sz="1600" b="1" dirty="0" smtClean="0"/>
              <a:t>COLETIVOS</a:t>
            </a:r>
          </a:p>
          <a:p>
            <a:r>
              <a:rPr lang="pt-BR" sz="1600" dirty="0"/>
              <a:t> </a:t>
            </a:r>
            <a:r>
              <a:rPr lang="pt-BR" sz="1600" dirty="0" smtClean="0"/>
              <a:t>... </a:t>
            </a:r>
            <a:endParaRPr lang="pt-BR" sz="1600" dirty="0"/>
          </a:p>
          <a:p>
            <a:r>
              <a:rPr lang="pt-BR" sz="1600" dirty="0"/>
              <a:t> XXV - no caso de iminente perigo público, a autoridade competente poderá usar de propriedade particular, assegurada ao proprietário indenização ulterior, se houver dano</a:t>
            </a:r>
            <a:r>
              <a:rPr lang="pt-BR" sz="1600" dirty="0" smtClean="0"/>
              <a:t>;</a:t>
            </a:r>
          </a:p>
          <a:p>
            <a:endParaRPr lang="pt-BR" sz="1600" dirty="0"/>
          </a:p>
          <a:p>
            <a:r>
              <a:rPr lang="pt-BR" sz="1600" dirty="0"/>
              <a:t>XXVI - a pequena propriedade rural, assim definida em lei, desde que trabalhada pela família, não será objeto de penhora para pagamento de débitos decorrentes de sua atividade produtiva, dispondo a lei sobre os meios de financiar o seu desenvolvimento</a:t>
            </a:r>
            <a:r>
              <a:rPr lang="pt-BR" sz="1600" dirty="0" smtClean="0"/>
              <a:t>;</a:t>
            </a:r>
          </a:p>
          <a:p>
            <a:endParaRPr lang="pt-BR" sz="1600" dirty="0"/>
          </a:p>
          <a:p>
            <a:r>
              <a:rPr lang="pt-BR" sz="1600" dirty="0"/>
              <a:t>XXVII - aos autores pertence o direito exclusivo de utilização, publicação ou reprodução de suas obras, transmissível aos herdeiros pelo tempo que a lei fixar;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590596352"/>
      </p:ext>
    </p:extLst>
  </p:cSld>
  <p:clrMapOvr>
    <a:masterClrMapping/>
  </p:clrMapOvr>
  <p:transition spd="slow">
    <p:pull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 smtClean="0"/>
              <a:t>TÍTULO </a:t>
            </a:r>
            <a:r>
              <a:rPr lang="pt-BR" sz="1600" b="1" dirty="0"/>
              <a:t>II</a:t>
            </a:r>
            <a:br>
              <a:rPr lang="pt-BR" sz="1600" b="1" dirty="0"/>
            </a:br>
            <a:r>
              <a:rPr lang="pt-BR" sz="1600" b="1" dirty="0"/>
              <a:t>Dos Direitos e Garantias Fundamentais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DIREITOS E DEVERES INDIVIDUAIS E </a:t>
            </a:r>
            <a:r>
              <a:rPr lang="pt-BR" sz="1600" b="1" dirty="0" smtClean="0"/>
              <a:t>COLETIVOS</a:t>
            </a:r>
          </a:p>
          <a:p>
            <a:r>
              <a:rPr lang="pt-BR" sz="1600" dirty="0"/>
              <a:t> </a:t>
            </a:r>
            <a:r>
              <a:rPr lang="pt-BR" sz="1600" dirty="0" smtClean="0"/>
              <a:t>... </a:t>
            </a:r>
          </a:p>
          <a:p>
            <a:r>
              <a:rPr lang="pt-BR" sz="1600" dirty="0"/>
              <a:t> XXVIII - são assegurados, nos termos da lei:</a:t>
            </a:r>
          </a:p>
          <a:p>
            <a:r>
              <a:rPr lang="pt-BR" sz="1600" dirty="0"/>
              <a:t>a) a proteção às participações individuais em obras coletivas e à reprodução da imagem e voz humanas, inclusive nas atividades desportivas;</a:t>
            </a:r>
          </a:p>
          <a:p>
            <a:r>
              <a:rPr lang="pt-BR" sz="1600" dirty="0"/>
              <a:t>b) o direito de fiscalização do aproveitamento econômico das obras que criarem ou de que participarem aos criadores, aos intérpretes e às respectivas representações sindicais e associativas</a:t>
            </a:r>
            <a:r>
              <a:rPr lang="pt-BR" sz="1600" dirty="0" smtClean="0"/>
              <a:t>;</a:t>
            </a:r>
          </a:p>
          <a:p>
            <a:endParaRPr lang="pt-BR" sz="1600" dirty="0"/>
          </a:p>
          <a:p>
            <a:r>
              <a:rPr lang="pt-BR" sz="1600" dirty="0"/>
              <a:t>XXIX - a lei assegurará aos autores de inventos industriais privilégio temporário para sua utilização, bem como proteção às criações industriais, à propriedade das marcas, aos nomes de empresas e a outros signos distintivos, tendo em vista o interesse social e o desenvolvimento tecnológico e econômico do País</a:t>
            </a:r>
            <a:r>
              <a:rPr lang="pt-BR" sz="1600" dirty="0" smtClean="0"/>
              <a:t>;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701928344"/>
      </p:ext>
    </p:extLst>
  </p:cSld>
  <p:clrMapOvr>
    <a:masterClrMapping/>
  </p:clrMapOvr>
  <p:transition spd="slow">
    <p:pull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 smtClean="0"/>
              <a:t>TÍTULO </a:t>
            </a:r>
            <a:r>
              <a:rPr lang="pt-BR" sz="1600" b="1" dirty="0"/>
              <a:t>II</a:t>
            </a:r>
            <a:br>
              <a:rPr lang="pt-BR" sz="1600" b="1" dirty="0"/>
            </a:br>
            <a:r>
              <a:rPr lang="pt-BR" sz="1600" b="1" dirty="0"/>
              <a:t>Dos Direitos e Garantias Fundamentais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DIREITOS E DEVERES INDIVIDUAIS E </a:t>
            </a:r>
            <a:r>
              <a:rPr lang="pt-BR" sz="1600" b="1" dirty="0" smtClean="0"/>
              <a:t>COLETIVOS</a:t>
            </a:r>
          </a:p>
          <a:p>
            <a:r>
              <a:rPr lang="pt-BR" sz="1600" dirty="0"/>
              <a:t> </a:t>
            </a:r>
            <a:r>
              <a:rPr lang="pt-BR" sz="1600" dirty="0" smtClean="0"/>
              <a:t>... </a:t>
            </a:r>
          </a:p>
          <a:p>
            <a:r>
              <a:rPr lang="pt-BR" sz="1600" dirty="0"/>
              <a:t> XXX - é garantido o direito de herança;</a:t>
            </a:r>
          </a:p>
          <a:p>
            <a:endParaRPr lang="pt-BR" sz="1600" dirty="0" smtClean="0"/>
          </a:p>
          <a:p>
            <a:r>
              <a:rPr lang="pt-BR" sz="1600" dirty="0" smtClean="0"/>
              <a:t>XXXI </a:t>
            </a:r>
            <a:r>
              <a:rPr lang="pt-BR" sz="1600" dirty="0"/>
              <a:t>- a sucessão de bens de estrangeiros situados no País será regulada pela lei brasileira em benefício do cônjuge ou dos filhos brasileiros, sempre que não lhes seja mais favorável a lei pessoal do "de cujus";</a:t>
            </a:r>
          </a:p>
          <a:p>
            <a:endParaRPr lang="pt-BR" sz="1600" dirty="0" smtClean="0"/>
          </a:p>
          <a:p>
            <a:r>
              <a:rPr lang="pt-BR" sz="1600" dirty="0" smtClean="0"/>
              <a:t>XXXII </a:t>
            </a:r>
            <a:r>
              <a:rPr lang="pt-BR" sz="1600" dirty="0"/>
              <a:t>- o Estado promoverá, na forma da lei, a defesa do consumidor;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908857944"/>
      </p:ext>
    </p:extLst>
  </p:cSld>
  <p:clrMapOvr>
    <a:masterClrMapping/>
  </p:clrMapOvr>
  <p:transition spd="slow">
    <p:pull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 smtClean="0"/>
              <a:t>TÍTULO </a:t>
            </a:r>
            <a:r>
              <a:rPr lang="pt-BR" sz="1600" b="1" dirty="0"/>
              <a:t>II</a:t>
            </a:r>
            <a:br>
              <a:rPr lang="pt-BR" sz="1600" b="1" dirty="0"/>
            </a:br>
            <a:r>
              <a:rPr lang="pt-BR" sz="1600" b="1" dirty="0"/>
              <a:t>Dos Direitos e Garantias Fundamentais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DIREITOS E DEVERES INDIVIDUAIS E </a:t>
            </a:r>
            <a:r>
              <a:rPr lang="pt-BR" sz="1600" b="1" dirty="0" smtClean="0"/>
              <a:t>COLETIVOS</a:t>
            </a:r>
          </a:p>
          <a:p>
            <a:r>
              <a:rPr lang="pt-BR" sz="1600" dirty="0"/>
              <a:t> </a:t>
            </a:r>
            <a:r>
              <a:rPr lang="pt-BR" sz="1600" dirty="0" smtClean="0"/>
              <a:t>... </a:t>
            </a:r>
          </a:p>
          <a:p>
            <a:r>
              <a:rPr lang="pt-BR" sz="1600" dirty="0"/>
              <a:t>XXXIV - são a todos assegurados, independentemente do pagamento de taxas:</a:t>
            </a:r>
          </a:p>
          <a:p>
            <a:r>
              <a:rPr lang="pt-BR" sz="1600" dirty="0"/>
              <a:t>a) o direito de petição aos Poderes Públicos em defesa de direitos ou contra ilegalidade ou abuso de poder;</a:t>
            </a:r>
          </a:p>
          <a:p>
            <a:r>
              <a:rPr lang="pt-BR" sz="1600" dirty="0"/>
              <a:t>b) a obtenção de certidões em repartições públicas, para defesa de direitos e esclarecimento de situações de interesse pessoal</a:t>
            </a:r>
            <a:r>
              <a:rPr lang="pt-BR" sz="1600" dirty="0" smtClean="0"/>
              <a:t>;</a:t>
            </a:r>
          </a:p>
          <a:p>
            <a:endParaRPr lang="pt-BR" sz="1600" dirty="0"/>
          </a:p>
          <a:p>
            <a:r>
              <a:rPr lang="pt-BR" sz="1600" dirty="0"/>
              <a:t>XXXV - a lei não excluirá da apreciação do Poder Judiciário lesão ou ameaça a direito</a:t>
            </a:r>
            <a:r>
              <a:rPr lang="pt-BR" sz="1600" dirty="0" smtClean="0"/>
              <a:t>;</a:t>
            </a:r>
          </a:p>
          <a:p>
            <a:endParaRPr lang="pt-BR" sz="1600" dirty="0"/>
          </a:p>
          <a:p>
            <a:r>
              <a:rPr lang="pt-BR" sz="1600" dirty="0"/>
              <a:t>XXXVI - a lei não prejudicará o direito adquirido, o ato jurídico perfeito e a coisa julgada;</a:t>
            </a:r>
          </a:p>
        </p:txBody>
      </p:sp>
    </p:spTree>
    <p:extLst>
      <p:ext uri="{BB962C8B-B14F-4D97-AF65-F5344CB8AC3E}">
        <p14:creationId xmlns:p14="http://schemas.microsoft.com/office/powerpoint/2010/main" val="3354655134"/>
      </p:ext>
    </p:extLst>
  </p:cSld>
  <p:clrMapOvr>
    <a:masterClrMapping/>
  </p:clrMapOvr>
  <p:transition spd="slow">
    <p:pull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/>
              <a:t>TÍTULO VII</a:t>
            </a:r>
            <a:br>
              <a:rPr lang="pt-BR" sz="1600" b="1" dirty="0"/>
            </a:br>
            <a:r>
              <a:rPr lang="pt-BR" sz="1600" b="1" dirty="0"/>
              <a:t>Da Ordem Econômica e Financeira 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PRINCÍPIOS GERAIS DA ATIVIDADE ECONÔMICA</a:t>
            </a:r>
          </a:p>
          <a:p>
            <a:endParaRPr lang="pt-BR" sz="1600" dirty="0" smtClean="0"/>
          </a:p>
          <a:p>
            <a:r>
              <a:rPr lang="pt-BR" sz="1600" dirty="0" smtClean="0"/>
              <a:t>Art</a:t>
            </a:r>
            <a:r>
              <a:rPr lang="pt-BR" sz="1600" dirty="0"/>
              <a:t>. 170. A ordem econômica, fundada na valorização do trabalho humano e na livre iniciativa, tem por fim assegurar a todos existência digna, conforme os ditames da justiça social, observados os seguintes princípios</a:t>
            </a:r>
            <a:r>
              <a:rPr lang="pt-BR" sz="1600" dirty="0" smtClean="0"/>
              <a:t>:</a:t>
            </a:r>
          </a:p>
          <a:p>
            <a:endParaRPr lang="pt-BR" sz="1600" dirty="0"/>
          </a:p>
          <a:p>
            <a:r>
              <a:rPr lang="pt-BR" sz="1600" dirty="0"/>
              <a:t>I - soberania nacional;</a:t>
            </a:r>
          </a:p>
          <a:p>
            <a:r>
              <a:rPr lang="pt-BR" sz="1600" dirty="0" smtClean="0"/>
              <a:t>II </a:t>
            </a:r>
            <a:r>
              <a:rPr lang="pt-BR" sz="1600" dirty="0"/>
              <a:t>- propriedade privada;</a:t>
            </a:r>
          </a:p>
          <a:p>
            <a:r>
              <a:rPr lang="pt-BR" sz="1600" dirty="0" smtClean="0"/>
              <a:t>III </a:t>
            </a:r>
            <a:r>
              <a:rPr lang="pt-BR" sz="1600" dirty="0"/>
              <a:t>- função social da propriedade;</a:t>
            </a:r>
          </a:p>
          <a:p>
            <a:r>
              <a:rPr lang="pt-BR" sz="1600" dirty="0" smtClean="0"/>
              <a:t>IV </a:t>
            </a:r>
            <a:r>
              <a:rPr lang="pt-BR" sz="1600" dirty="0"/>
              <a:t>- livre concorrência;</a:t>
            </a:r>
          </a:p>
          <a:p>
            <a:r>
              <a:rPr lang="pt-BR" sz="1600" dirty="0" smtClean="0"/>
              <a:t>V </a:t>
            </a:r>
            <a:r>
              <a:rPr lang="pt-BR" sz="1600" dirty="0"/>
              <a:t>- defesa do consumidor</a:t>
            </a:r>
            <a:r>
              <a:rPr lang="pt-BR" sz="1600" dirty="0" smtClean="0"/>
              <a:t>;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697028955"/>
      </p:ext>
    </p:extLst>
  </p:cSld>
  <p:clrMapOvr>
    <a:masterClrMapping/>
  </p:clrMapOvr>
  <p:transition spd="slow">
    <p:pull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2900" b="1" dirty="0">
                <a:hlinkClick r:id="rId2"/>
              </a:rPr>
              <a:t>CONSTITUIÇÃO DA REPÚBLICA FEDERATIVA DO BRASIL DE 1988</a:t>
            </a:r>
            <a:endParaRPr lang="pt-BR" sz="2900" b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sz="1600" b="1" dirty="0"/>
              <a:t>TÍTULO VII</a:t>
            </a:r>
            <a:br>
              <a:rPr lang="pt-BR" sz="1600" b="1" dirty="0"/>
            </a:br>
            <a:r>
              <a:rPr lang="pt-BR" sz="1600" b="1" dirty="0"/>
              <a:t>Da Ordem Econômica e Financeira </a:t>
            </a:r>
            <a:br>
              <a:rPr lang="pt-BR" sz="1600" b="1" dirty="0"/>
            </a:br>
            <a:r>
              <a:rPr lang="pt-BR" sz="1600" b="1" dirty="0"/>
              <a:t>CAPÍTULO I</a:t>
            </a:r>
            <a:br>
              <a:rPr lang="pt-BR" sz="1600" b="1" dirty="0"/>
            </a:br>
            <a:r>
              <a:rPr lang="pt-BR" sz="1600" b="1" dirty="0"/>
              <a:t>DOS PRINCÍPIOS GERAIS DA ATIVIDADE ECONÔMICA</a:t>
            </a:r>
          </a:p>
          <a:p>
            <a:r>
              <a:rPr lang="pt-BR" sz="1600" dirty="0" smtClean="0"/>
              <a:t>Art</a:t>
            </a:r>
            <a:r>
              <a:rPr lang="pt-BR" sz="1600" dirty="0"/>
              <a:t>. 170</a:t>
            </a:r>
            <a:r>
              <a:rPr lang="pt-BR" sz="1600" dirty="0" smtClean="0"/>
              <a:t>...</a:t>
            </a:r>
          </a:p>
          <a:p>
            <a:r>
              <a:rPr lang="pt-BR" sz="1600" dirty="0" smtClean="0"/>
              <a:t>VI </a:t>
            </a:r>
            <a:r>
              <a:rPr lang="pt-BR" sz="1600" dirty="0"/>
              <a:t>- defesa do meio ambiente, inclusive mediante tratamento diferenciado conforme o impacto ambiental dos produtos e serviços e de seus processos de elaboração e prestação; </a:t>
            </a:r>
            <a:endParaRPr lang="pt-BR" sz="1600" dirty="0" smtClean="0"/>
          </a:p>
          <a:p>
            <a:endParaRPr lang="pt-BR" sz="1600" dirty="0"/>
          </a:p>
          <a:p>
            <a:r>
              <a:rPr lang="pt-BR" sz="1600" dirty="0" smtClean="0"/>
              <a:t>VII </a:t>
            </a:r>
            <a:r>
              <a:rPr lang="pt-BR" sz="1600" dirty="0"/>
              <a:t>- redução das desigualdades regionais e sociais;</a:t>
            </a:r>
          </a:p>
          <a:p>
            <a:endParaRPr lang="pt-BR" sz="1600" dirty="0" smtClean="0"/>
          </a:p>
          <a:p>
            <a:r>
              <a:rPr lang="pt-BR" sz="1600" dirty="0" smtClean="0"/>
              <a:t>VIII </a:t>
            </a:r>
            <a:r>
              <a:rPr lang="pt-BR" sz="1600" dirty="0"/>
              <a:t>- busca do pleno emprego;</a:t>
            </a:r>
          </a:p>
          <a:p>
            <a:r>
              <a:rPr lang="pt-BR" sz="1600" dirty="0"/>
              <a:t>IX - tratamento favorecido para as empresas de pequeno porte constituídas sob as leis brasileiras e que tenham sua sede e administração no País. </a:t>
            </a:r>
            <a:endParaRPr lang="pt-BR" sz="1600" dirty="0" smtClean="0"/>
          </a:p>
          <a:p>
            <a:endParaRPr lang="pt-BR" sz="1600" dirty="0"/>
          </a:p>
          <a:p>
            <a:r>
              <a:rPr lang="pt-BR" sz="1600" dirty="0"/>
              <a:t>Parágrafo único. É assegurado a todos o livre exercício de qualquer atividade econômica, independentemente de autorização de órgãos públicos, salvo nos casos previstos em lei.</a:t>
            </a:r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966782791"/>
      </p:ext>
    </p:extLst>
  </p:cSld>
  <p:clrMapOvr>
    <a:masterClrMapping/>
  </p:clrMapOvr>
  <p:transition spd="slow">
    <p:pull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pt-BR" sz="2400" b="1" dirty="0">
                <a:solidFill>
                  <a:srgbClr val="C00000"/>
                </a:solidFill>
                <a:latin typeface="+mn-lt"/>
              </a:rPr>
              <a:t>Lei de Introdução às normas do Direito Brasileiro. </a:t>
            </a:r>
            <a:br>
              <a:rPr lang="pt-BR" sz="2400" b="1" dirty="0">
                <a:solidFill>
                  <a:srgbClr val="C00000"/>
                </a:solidFill>
                <a:latin typeface="+mn-lt"/>
              </a:rPr>
            </a:br>
            <a:r>
              <a:rPr lang="pt-BR" sz="2400" b="1" dirty="0" smtClean="0">
                <a:solidFill>
                  <a:srgbClr val="C00000"/>
                </a:solidFill>
                <a:latin typeface="+mn-lt"/>
              </a:rPr>
              <a:t>LINDB/42</a:t>
            </a:r>
            <a:endParaRPr lang="pt-BR" sz="24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457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hangingPunct="1"/>
            <a:r>
              <a:rPr lang="pt-BR" dirty="0" smtClean="0"/>
              <a:t>Leitura e interpretação do artigo 1º </a:t>
            </a:r>
            <a:r>
              <a:rPr lang="pt-BR" smtClean="0"/>
              <a:t>ao 6</a:t>
            </a:r>
            <a:r>
              <a:rPr lang="pt-BR"/>
              <a:t>º.</a:t>
            </a:r>
            <a:endParaRPr lang="pt-BR" dirty="0"/>
          </a:p>
          <a:p>
            <a:pPr hangingPunct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1358541"/>
      </p:ext>
    </p:extLst>
  </p:cSld>
  <p:clrMapOvr>
    <a:masterClrMapping/>
  </p:clrMapOvr>
  <p:transition spd="slow">
    <p:pull dir="r"/>
  </p:transition>
</p:sld>
</file>

<file path=ppt/theme/theme1.xml><?xml version="1.0" encoding="utf-8"?>
<a:theme xmlns:a="http://schemas.openxmlformats.org/drawingml/2006/main" name="Camadas">
  <a:themeElements>
    <a:clrScheme name="Camada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Camad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amada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727</Words>
  <Application>Microsoft Office PowerPoint</Application>
  <PresentationFormat>Apresentação na tela (4:3)</PresentationFormat>
  <Paragraphs>231</Paragraphs>
  <Slides>28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29" baseType="lpstr">
      <vt:lpstr>Camadas</vt:lpstr>
      <vt:lpstr>DIREITO CIVIL – PESSOAS E BENS Parte geral 1</vt:lpstr>
      <vt:lpstr>PRESSUPOSTOS EPISTEMOLÓGICOS PARA A INTERPRETAÇÃO, INTEGRAÇÃO E APLICAÇÃO DO DIREITO</vt:lpstr>
      <vt:lpstr>Demonstrabilidade da existência dos Fatos e a luta pela efetividade dos direitos: A argumentação Jurídica.</vt:lpstr>
      <vt:lpstr>Categorias necessárias para a interpretação e aplicação do direito</vt:lpstr>
      <vt:lpstr>Categorias operacionais:</vt:lpstr>
      <vt:lpstr>DECRETO-LEI Nº 4.657, DE 4 DE SETEMBRO DE 1942. Lei de Introdução ao Código Civil Brasileiro</vt:lpstr>
      <vt:lpstr>Técnicas clássicas de interpretação do direito</vt:lpstr>
      <vt:lpstr>PRINCÍPIOS DO DIREITO CIVIL  CLÁSSICO</vt:lpstr>
      <vt:lpstr>PRINCÍPIOS DO DIREITO CIVIL CONTEMPORÂNEO SOB A INFLUÊNCIA DOS DIREITOS FUNDAMENTAIS (substancialidade)</vt:lpstr>
      <vt:lpstr>Fundamento basilar do Direito contemporâneo e do Direito Civil brasileiro:  os Direitos Fundamentais</vt:lpstr>
      <vt:lpstr>Substancialidade da Dignidade Humana: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CONSTITUIÇÃO DA REPÚBLICA FEDERATIVA DO BRASIL DE 1988</vt:lpstr>
      <vt:lpstr>Lei de Introdução às normas do Direito Brasileiro.  LINDB/42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Bráulio</dc:creator>
  <cp:lastModifiedBy>Luiz Bráulio</cp:lastModifiedBy>
  <cp:revision>24</cp:revision>
  <dcterms:created xsi:type="dcterms:W3CDTF">2011-08-16T03:57:39Z</dcterms:created>
  <dcterms:modified xsi:type="dcterms:W3CDTF">2024-08-06T11:50:36Z</dcterms:modified>
</cp:coreProperties>
</file>